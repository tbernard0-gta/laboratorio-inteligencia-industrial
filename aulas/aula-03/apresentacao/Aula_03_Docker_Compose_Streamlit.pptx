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6a6d5649a040ee" /><Relationship Type="http://schemas.openxmlformats.org/officeDocument/2006/relationships/extended-properties" Target="/docProps/app.xml" Id="R2373ad3c3ad94bcb" /><Relationship Type="http://schemas.openxmlformats.org/officeDocument/2006/relationships/officeDocument" Target="/ppt/presentation.xml" Id="R00981cde58d04e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1d60f082d8469d"/>
  </p:sldMasterIdLst>
  <p:notesMasterIdLst>
    <p:notesMasterId xmlns:r="http://schemas.openxmlformats.org/officeDocument/2006/relationships" r:id="R6cbb170641f44dd8"/>
  </p:notesMasterIdLst>
  <p:sldIdLst>
    <p:sldId xmlns:r="http://schemas.openxmlformats.org/officeDocument/2006/relationships" id="256" r:id="Rb419d7ba9f9a405e"/>
    <p:sldId xmlns:r="http://schemas.openxmlformats.org/officeDocument/2006/relationships" id="257" r:id="R666603c9e2404f22"/>
    <p:sldId xmlns:r="http://schemas.openxmlformats.org/officeDocument/2006/relationships" id="258" r:id="R058ce66c7d864cd8"/>
    <p:sldId xmlns:r="http://schemas.openxmlformats.org/officeDocument/2006/relationships" id="259" r:id="R49b6aa2189a546f0"/>
    <p:sldId xmlns:r="http://schemas.openxmlformats.org/officeDocument/2006/relationships" id="260" r:id="Rda563921e009460d"/>
    <p:sldId xmlns:r="http://schemas.openxmlformats.org/officeDocument/2006/relationships" id="261" r:id="R4b207f33ca1f4904"/>
    <p:sldId xmlns:r="http://schemas.openxmlformats.org/officeDocument/2006/relationships" id="262" r:id="R3bf88e04d1a149b7"/>
    <p:sldId xmlns:r="http://schemas.openxmlformats.org/officeDocument/2006/relationships" id="263" r:id="R1e12c0b2de524541"/>
    <p:sldId xmlns:r="http://schemas.openxmlformats.org/officeDocument/2006/relationships" id="264" r:id="Rdc9881ae30284df6"/>
    <p:sldId xmlns:r="http://schemas.openxmlformats.org/officeDocument/2006/relationships" id="265" r:id="R358530451b8649a3"/>
    <p:sldId xmlns:r="http://schemas.openxmlformats.org/officeDocument/2006/relationships" id="266" r:id="R2d6b2ef19fc64889"/>
    <p:sldId xmlns:r="http://schemas.openxmlformats.org/officeDocument/2006/relationships" id="267" r:id="R039a8d9bcd0d4357"/>
    <p:sldId xmlns:r="http://schemas.openxmlformats.org/officeDocument/2006/relationships" id="268" r:id="R7a27deb3828a4572"/>
    <p:sldId xmlns:r="http://schemas.openxmlformats.org/officeDocument/2006/relationships" id="269" r:id="Rab15d051b8394249"/>
    <p:sldId xmlns:r="http://schemas.openxmlformats.org/officeDocument/2006/relationships" id="270" r:id="R2d75d01367154738"/>
    <p:sldId xmlns:r="http://schemas.openxmlformats.org/officeDocument/2006/relationships" id="271" r:id="R7cd6165f4dae44e6"/>
    <p:sldId xmlns:r="http://schemas.openxmlformats.org/officeDocument/2006/relationships" id="272" r:id="Ra55e87844a9a4d5e"/>
    <p:sldId xmlns:r="http://schemas.openxmlformats.org/officeDocument/2006/relationships" id="273" r:id="Rabca0a71d30d4f25"/>
    <p:sldId xmlns:r="http://schemas.openxmlformats.org/officeDocument/2006/relationships" id="274" r:id="R7c6f12b7ed0e4eb6"/>
    <p:sldId xmlns:r="http://schemas.openxmlformats.org/officeDocument/2006/relationships" id="275" r:id="Ra5fa671c19dc41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4d78db167e4444" /><Relationship Type="http://schemas.openxmlformats.org/officeDocument/2006/relationships/slideMaster" Target="/ppt/slideMasters/slideMaster1.xml" Id="R8d1d60f082d8469d" /><Relationship Type="http://schemas.openxmlformats.org/officeDocument/2006/relationships/notesMaster" Target="/ppt/notesMasters/notesMaster1.xml" Id="R6cbb170641f44dd8" /><Relationship Type="http://schemas.openxmlformats.org/officeDocument/2006/relationships/presProps" Target="/ppt/presProps.xml" Id="R0ee833a220db4108" /><Relationship Type="http://schemas.openxmlformats.org/officeDocument/2006/relationships/tableStyles" Target="/ppt/tableStyles.xml" Id="R2ada4cba0b754f56" /><Relationship Type="http://schemas.openxmlformats.org/officeDocument/2006/relationships/slide" Target="/ppt/slides/slide1.xml" Id="Rb419d7ba9f9a405e" /><Relationship Type="http://schemas.openxmlformats.org/officeDocument/2006/relationships/slide" Target="/ppt/slides/slide2.xml" Id="R666603c9e2404f22" /><Relationship Type="http://schemas.openxmlformats.org/officeDocument/2006/relationships/slide" Target="/ppt/slides/slide3.xml" Id="R058ce66c7d864cd8" /><Relationship Type="http://schemas.openxmlformats.org/officeDocument/2006/relationships/slide" Target="/ppt/slides/slide4.xml" Id="R49b6aa2189a546f0" /><Relationship Type="http://schemas.openxmlformats.org/officeDocument/2006/relationships/slide" Target="/ppt/slides/slide5.xml" Id="Rda563921e009460d" /><Relationship Type="http://schemas.openxmlformats.org/officeDocument/2006/relationships/slide" Target="/ppt/slides/slide6.xml" Id="R4b207f33ca1f4904" /><Relationship Type="http://schemas.openxmlformats.org/officeDocument/2006/relationships/slide" Target="/ppt/slides/slide7.xml" Id="R3bf88e04d1a149b7" /><Relationship Type="http://schemas.openxmlformats.org/officeDocument/2006/relationships/slide" Target="/ppt/slides/slide8.xml" Id="R1e12c0b2de524541" /><Relationship Type="http://schemas.openxmlformats.org/officeDocument/2006/relationships/slide" Target="/ppt/slides/slide9.xml" Id="Rdc9881ae30284df6" /><Relationship Type="http://schemas.openxmlformats.org/officeDocument/2006/relationships/slide" Target="/ppt/slides/slide10.xml" Id="R358530451b8649a3" /><Relationship Type="http://schemas.openxmlformats.org/officeDocument/2006/relationships/slide" Target="/ppt/slides/slide11.xml" Id="R2d6b2ef19fc64889" /><Relationship Type="http://schemas.openxmlformats.org/officeDocument/2006/relationships/slide" Target="/ppt/slides/slide12.xml" Id="R039a8d9bcd0d4357" /><Relationship Type="http://schemas.openxmlformats.org/officeDocument/2006/relationships/slide" Target="/ppt/slides/slide13.xml" Id="R7a27deb3828a4572" /><Relationship Type="http://schemas.openxmlformats.org/officeDocument/2006/relationships/slide" Target="/ppt/slides/slide14.xml" Id="Rab15d051b8394249" /><Relationship Type="http://schemas.openxmlformats.org/officeDocument/2006/relationships/slide" Target="/ppt/slides/slide15.xml" Id="R2d75d01367154738" /><Relationship Type="http://schemas.openxmlformats.org/officeDocument/2006/relationships/slide" Target="/ppt/slides/slide16.xml" Id="R7cd6165f4dae44e6" /><Relationship Type="http://schemas.openxmlformats.org/officeDocument/2006/relationships/slide" Target="/ppt/slides/slide17.xml" Id="Ra55e87844a9a4d5e" /><Relationship Type="http://schemas.openxmlformats.org/officeDocument/2006/relationships/slide" Target="/ppt/slides/slide18.xml" Id="Rabca0a71d30d4f25" /><Relationship Type="http://schemas.openxmlformats.org/officeDocument/2006/relationships/slide" Target="/ppt/slides/slide19.xml" Id="R7c6f12b7ed0e4eb6" /><Relationship Type="http://schemas.openxmlformats.org/officeDocument/2006/relationships/slide" Target="/ppt/slides/slide20.xml" Id="Ra5fa671c19dc41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fdab435f5b40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7380951b0d43dd" /><Relationship Type="http://schemas.openxmlformats.org/officeDocument/2006/relationships/notesMaster" Target="/ppt/notesMasters/notesMaster1.xml" Id="Rc5b1c74ba9ed4d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92a380357843ac" /><Relationship Type="http://schemas.openxmlformats.org/officeDocument/2006/relationships/notesMaster" Target="/ppt/notesMasters/notesMaster1.xml" Id="Ra7de9a60ea0849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1bd384343947c6" /><Relationship Type="http://schemas.openxmlformats.org/officeDocument/2006/relationships/notesMaster" Target="/ppt/notesMasters/notesMaster1.xml" Id="Rf7f75438dcad48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5938278721490a" /><Relationship Type="http://schemas.openxmlformats.org/officeDocument/2006/relationships/notesMaster" Target="/ppt/notesMasters/notesMaster1.xml" Id="R2600bc07ea5f41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abe4d46c7b475f" /><Relationship Type="http://schemas.openxmlformats.org/officeDocument/2006/relationships/notesMaster" Target="/ppt/notesMasters/notesMaster1.xml" Id="R91d843b0410c4b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6596acecee46ac" /><Relationship Type="http://schemas.openxmlformats.org/officeDocument/2006/relationships/notesMaster" Target="/ppt/notesMasters/notesMaster1.xml" Id="R9b243c2b769b47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8a4276107e4def" /><Relationship Type="http://schemas.openxmlformats.org/officeDocument/2006/relationships/notesMaster" Target="/ppt/notesMasters/notesMaster1.xml" Id="R7a6e24beb6a646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bd49fd9d6742b5" /><Relationship Type="http://schemas.openxmlformats.org/officeDocument/2006/relationships/notesMaster" Target="/ppt/notesMasters/notesMaster1.xml" Id="Re029b21c771e4c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36b18e3df44dff" /><Relationship Type="http://schemas.openxmlformats.org/officeDocument/2006/relationships/notesMaster" Target="/ppt/notesMasters/notesMaster1.xml" Id="Re508980716f447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570d43f1624017" /><Relationship Type="http://schemas.openxmlformats.org/officeDocument/2006/relationships/notesMaster" Target="/ppt/notesMasters/notesMaster1.xml" Id="R81718682f8c849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9eb2d2c1b54d5f" /><Relationship Type="http://schemas.openxmlformats.org/officeDocument/2006/relationships/notesMaster" Target="/ppt/notesMasters/notesMaster1.xml" Id="R853c645f6e524dd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42c97ae99d4767" /><Relationship Type="http://schemas.openxmlformats.org/officeDocument/2006/relationships/notesMaster" Target="/ppt/notesMasters/notesMaster1.xml" Id="Rafafa15137284d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0e745822db406e" /><Relationship Type="http://schemas.openxmlformats.org/officeDocument/2006/relationships/notesMaster" Target="/ppt/notesMasters/notesMaster1.xml" Id="R5ade0e44ef2c479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8a026961a554724" /><Relationship Type="http://schemas.openxmlformats.org/officeDocument/2006/relationships/notesMaster" Target="/ppt/notesMasters/notesMaster1.xml" Id="R2068468126dc40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d870e7da3ce4ebd" /><Relationship Type="http://schemas.openxmlformats.org/officeDocument/2006/relationships/notesMaster" Target="/ppt/notesMasters/notesMaster1.xml" Id="R4a7b4960e72a4ea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635897c8d22496c" /><Relationship Type="http://schemas.openxmlformats.org/officeDocument/2006/relationships/notesMaster" Target="/ppt/notesMasters/notesMaster1.xml" Id="R6a883e838f824b0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10d5d6fbaf14735" /><Relationship Type="http://schemas.openxmlformats.org/officeDocument/2006/relationships/notesMaster" Target="/ppt/notesMasters/notesMaster1.xml" Id="R9d6f748ee04f4d3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ca4a76b791545f5" /><Relationship Type="http://schemas.openxmlformats.org/officeDocument/2006/relationships/notesMaster" Target="/ppt/notesMasters/notesMaster1.xml" Id="R5037eb96143e4d2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e577e56d51142bb" /><Relationship Type="http://schemas.openxmlformats.org/officeDocument/2006/relationships/notesMaster" Target="/ppt/notesMasters/notesMaster1.xml" Id="R4473f9bd5b4c496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5ceebb28da04666" /><Relationship Type="http://schemas.openxmlformats.org/officeDocument/2006/relationships/notesMaster" Target="/ppt/notesMasters/notesMaster1.xml" Id="R068c206501bf45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1 min. Janela: 0–1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Abertura: hoje vamos organizar a aplicação em containers e acompanhar as mesmas variáveis em uma interface web. Apresentar Sol apenas se houver gancho. Escopo de laboratório didático, sem dados da fábrica.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2 min. Janela: 1–3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Relembrar o caminho do dado sem repetir toda a instalação. TEP e servidor OPC pertencem ao mesmo processo Python. A administração segue por salto no Pi 3. Resultado esperado: público reconhece o que permanece.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2 min. Janela: 3–5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Comparar o processo da aula 1 com a operação desejada. Um terminal aberto por SSH não é um gerenciador de serviço. Docker não corrige a lógica do TEP nem substitui o controle de rede.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2 min. Janela: 5–7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Mostrar que ARM64 continua importando: a imagem e suas dependências precisam suportar a arquitetura. A preparação na nuvem não prova execução no Raspberry. Fonte: https://docs.docker.com/get-started/docker-concepts/the-basics/what-is-an-image/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3 min. Janela: 7–10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Explicar cada conceito usando o projeto. O modelo e o gráfico reiniciam com seus processos. Não adicionar banco nem inventar persistência. Fontes: https://docs.docker.com/compose/intro/compose-application-model/ e https://docs.docker.com/get-started/docker-concepts/the-basics/what-is-an-image/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2 min. Janela: 10–12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Abrir docker/compose.yaml. Mostrar serviços e a rede industrial com internal: true. depends_on usa healthcheck, mas a aplicação ainda precisa lidar com perda de comunicação. Fonte: https://docs.docker.com/compose/intro/compose-application-model/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3 min. Janela: 12–15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Percorrer notebook, Pi 3 e Pi 4. O Pi 3 encaminha e filtra. O Pi 4 executa os containers. O Streamlit lê OPC pela rede Docker, sem passar pelo Pi 3. O navegador acessa TCP8501 pelo gateway. UAExpert continua em4840. SSH direto bloqueado, administração por salto preservada. IPs são do laboratório e precisam de nova conferência. Rede Docker interna não torna a porta publicada automaticamente privada ao cliente autorizado. Fonte: https://docs.docker.com/engine/network/packet-filtering-firewalls/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2 min. Janela: 15–17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Explicar a divisão entre preparação lenta e demonstração rápida. Os arquivos estão prontos para apoiar a construção incremental com Codex. Não gastar a gravação copiando uma aplicação inteira. Arquivos: CHECKLIST_GRAVACAO.md e roteiro/roteiro_gravacao.md. A rede TA tem saída bloqueada pelo firewall. Preparar imagens ARM64 com antecedência conforme o checklist, por um caminho autorizado de transferência ou preparação. Não abrir acesso genérico à internet durante a aula apenas para realizar o build.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4 min. Janela: 17–21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PowerShell, entrar no Pi 4 pelo salto no Pi 3. IPs do laboratório: notebook 192.168.1.16, Pi 3 192.168.1.17 e 10.77.0.1, Pi 4 10.77.0.10. Conferir se continuam válidos. Esperado no Pi 4: hostname devcontrol, arquitetura aarch64, espaço livre e daemon Docker acessível. Se Docker ou Compose faltar, seguir o checklist antes da gravação. No Pi 3, inspecionar sudo nft -a list ruleset sem alterar nada. No Pi 4, conferir sudo ss -ltnp e identificar o processo da porta 4840. Não parar serviços desconhecidos nem instalar Docker no Pi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3 min. Janela: 21–24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Executar prompt1 de prompts/prompts_codex.md. Esperado: servidor integrado, namespace urn:laboratorio-industrial:tep, Reator/Pressao,Nivel,Temperatura, unidades preservadas. Codex não deve inventar NodeIds. Prompt2 no apoio planeja a estrutura sem mudar funcionalidade.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3 min. Janela: 24–27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Abrir Dockerfile e Compose no editor. Explicar build multi-stage do servidor, usuário sem root, dependências fixadas e logs limitados. O servidor da Aula3 mantém a lógica do anterior e parametriza bind/endpoint. Não confundir bind0.0.0.0 dentro do container com publicação no IP10.77.0.10 do host.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4 min. Janela: 27–31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Corresponde aos prompts2 e3 do arquivo de apoio. Mostrar git diff. Resultado esperado: serviços sem privileged, sem host network e sem docker.sock montado. ARM64 planejado, não validado apenas por funcionar em x86. Não executar comandos no hardware a partir da nuvem.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5 min. Janela: 31–36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Entrar em aulas/aula-03-docker-compose-streamlit. Criar .env a partir de .env.example somente se ainda não existir. Conferir PI4_BIND_IP e OPC_ADVERTISED_ENDPOINT. A função dc vale apenas nesta sessão Bash e pressupõe esse diretório. O primeiro build pode ser lento e deve ocorrer no pré-gravação. Antes de up, parar apenas a instância manual identificada do servidor OPC para liberar 4840. Resultado esperado: dois serviços Up, com healthchecks saudáveis. Ctrl+C encerra a leitura dos logs sem parar os serviços. Se uma porta estiver ocupada, investigar o processo antes de agir. Não usar down -v. Abrir docker/compose.yaml durante a explicação. Com a saída da TA bloqueada, um build sem imagens e dependências em cache não consegue fazer os downloads. Conferir o pré-build ARM64 e os caches antes de iniciar a gravação. Não relaxar o firewall para esconder essa dependência.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4 min. Janela: 36–40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Usar os prompts 4 e 5 completos em prompts/prompts_codex.md, uma tarefa por vez. Abrir streamlit/opc_client.py, collector.py e app.py. O cliente resolve o índice do namespace pela URI urn:laboratorio-industrial:tep e usa BrowseNames, sem NodeIds numéricos fixos. O coletor controla frequência e memória. A interface atualiza a cada 2 segundos sem criar loop ocupado. Resultado esperado: valores lidos por OPC UA e falha visível em caso de indisponibilidade. Fonte: https://docs.streamlit.io/develop/api-reference/execution-flow/st.fragment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3 min. Janela: 40–43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da liberação no Pi 3, validar o cliente internamente e os healthchecks no Pi 4. A demonstração completa no navegador do notebook acontece após a regra do slide 17. Comparar com o UAExpert, considerando que cada cliente pode ler em instantes diferentes. Conferir valores, qualidade e SourceTimestamp. Unidades vêm da propriedade Unidade do servidor: kPa(g), % e C. As tendências ficam em memória, com limite de 600 amostras. Reiniciar o dashboard limpa as amostras. Uma leitura antiga não deve aparecer como atual quando houver falha.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2 min. Janela: 43–45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Uma conexão TCP que falha não prova, sozinha, bloqueio no firewall. Também pode haver erro de rota, bind ou processo parado. Confirmar primeiro a saúde da aplicação e a comunicação interna no Pi 4. Docker gerencia publicação e regras no Pi 4. A cadeia FORWARD do nftables está no Pi 3 e controla o tráfego entre zonas. Não editar regras criadas pelo Docker. Resultado esperado: aplicativo saudável no Pi 4 e acesso do notebook bloqueado antes da regra específica. Fonte: https://docs.docker.com/engine/network/packet-filtering-firewalls/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5 min. Janela: 45–50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Abrir rede/firewall_8501.md e seguir os comandos incrementais. Inspecionar a cadeia inet iilab_filter forward, confirmar as interfaces e registrar backup. Usar o handle atual do descarte correto, nunca copiar um número de handle de outra sessão. A regra restringe wlan0 para eth0, origem 192.168.1.16, destino 10.77.0.10 e TCP 8501. Inserir antes do descarte que bloquearia esse tráfego. Preservar a administração por salto e o bloqueio de SSH direto. Não executar flush ruleset. Se precisar reverter, remover apenas a regra identificada. Persistir somente depois de validar, conforme o mecanismo realmente existente no Pi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5 min. Janela: 50–55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 no notebook: novas conexões TCP 8501 e 4840 funcionam, TCP 22 direta falha. Abrir a interface e conferir leituras atuais. No Pi 3, acompanhar o contador da regra 8501 e a captura tcpdump. Confirmar que o SSH pela máquina de salto continua funcionando. O teste direto usa 10.77.0.10, não o antigo IP Wi-Fi. Se TCP abrir mas a interface falhar, investigar HTTP, WebSocket e logs. Prompt 6 no material de apoio. O contador established agrega outros fluxos. Depois de remover uma regra, sessões estabelecidas podem continuar por causa do conntrack. Fechar o cliente e testar uma conexão nova para validar o bloqueio.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3 min. Janela: 55–58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Demonstrar um reinício controlado do tep-opc no Pi 4 e observar a interface. O TEP reinicia o estado do modelo, sem retomar o tempo anterior. Conferir reconexão, qualidade e avanço dos timestamps. A política unless-stopped não reinicia um container apenas porque seu healthcheck ficou unhealthy. O healthcheck HTTP do Streamlit não comprova leitura OPC. Prompt 7 no apoio. Se houver atraso na gravação, mostrar os logs sem reiniciar. Não reiniciar o Pi 3 e não limpar o firewall.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2 min. Janela: 58–60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Concluir apenas com resultados realmente observados durante a aula. Mostrar a navegação do README para roteiro, prompts, checklist, procedimento de rede e testes. A preparação em nuvem não equivale à validação ARM64: o usuário ainda precisa construir e executar no Pi 4, conferir rede e testar a interface antes de gravar. Este laboratório usa OPC UA anônimo sem criptografia e HTTP em rede restrita. Não expor à internet nem apresentar como implantação pronta para produção industrial.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97a9e1bbea41f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144e3dfb5d450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f91994efcf48c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285cbd19064ed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9f7a94091149c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7d89a35aad45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5215FA-4045-4674-954B-688707C631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D284C37-D53E-4777-A828-9DF1BE1B55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6CA637F-4692-407F-8414-4697F26AE4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394455-9E5D-4AC7-8F81-2E1F567FC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57DE287-0903-4C28-8EBB-36659F676B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D25C02D-AB30-4A41-951C-9721F339E3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C08FDE-26E5-4DDB-BA95-E9B5C55C3F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1C1C277-ADC0-417D-A8BE-6189AB2A0B1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DE0E4A-E6E4-4E94-8521-62A6F067F5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5A9375-8DC7-4861-B9D7-0E1C55AFF9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57c58d4513422b" /><Relationship Type="http://schemas.openxmlformats.org/officeDocument/2006/relationships/slideLayout" Target="/ppt/slideLayouts/slideLayout1.xml" Id="R543dbf3695d84f7f" /><Relationship Type="http://schemas.openxmlformats.org/officeDocument/2006/relationships/slideLayout" Target="/ppt/slideLayouts/slideLayout2.xml" Id="R46c54360842a452c" /><Relationship Type="http://schemas.openxmlformats.org/officeDocument/2006/relationships/slideLayout" Target="/ppt/slideLayouts/slideLayout3.xml" Id="R2eaa7a9216b540b3" /><Relationship Type="http://schemas.openxmlformats.org/officeDocument/2006/relationships/slideLayout" Target="/ppt/slideLayouts/slideLayout4.xml" Id="R5c2c28017e2c4ca3" /><Relationship Type="http://schemas.openxmlformats.org/officeDocument/2006/relationships/slideLayout" Target="/ppt/slideLayouts/slideLayout5.xml" Id="Re4ba9b866e81486b" /><Relationship Type="http://schemas.openxmlformats.org/officeDocument/2006/relationships/slideLayout" Target="/ppt/slideLayouts/slideLayout6.xml" Id="Rf53e2b3319e042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3dbf3695d84f7f"/>
    <p:sldLayoutId xmlns:r="http://schemas.openxmlformats.org/officeDocument/2006/relationships" id="2147483650" r:id="R46c54360842a452c"/>
    <p:sldLayoutId xmlns:r="http://schemas.openxmlformats.org/officeDocument/2006/relationships" id="2147483651" r:id="R2eaa7a9216b540b3"/>
    <p:sldLayoutId xmlns:r="http://schemas.openxmlformats.org/officeDocument/2006/relationships" id="2147483652" r:id="R5c2c28017e2c4ca3"/>
    <p:sldLayoutId xmlns:r="http://schemas.openxmlformats.org/officeDocument/2006/relationships" id="2147483653" r:id="Re4ba9b866e81486b"/>
    <p:sldLayoutId xmlns:r="http://schemas.openxmlformats.org/officeDocument/2006/relationships" id="2147483654" r:id="Rf53e2b3319e042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ad0a8a45424ac0" /><Relationship Type="http://schemas.openxmlformats.org/officeDocument/2006/relationships/notesSlide" Target="/ppt/notesSlides/notesSlide1.xml" Id="R34824ddfa7ad4d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9a160ae32b4f64" /><Relationship Type="http://schemas.openxmlformats.org/officeDocument/2006/relationships/notesSlide" Target="/ppt/notesSlides/notesSlide2.xml" Id="R7a27ae1c62cc49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44483f136a41e0" /><Relationship Type="http://schemas.openxmlformats.org/officeDocument/2006/relationships/notesSlide" Target="/ppt/notesSlides/notesSlide3.xml" Id="R1035501cd4cc41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d3a11dee0941cc" /><Relationship Type="http://schemas.openxmlformats.org/officeDocument/2006/relationships/notesSlide" Target="/ppt/notesSlides/notesSlide4.xml" Id="Rf06080bbd9e548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cbdc9ce7ad4109" /><Relationship Type="http://schemas.openxmlformats.org/officeDocument/2006/relationships/notesSlide" Target="/ppt/notesSlides/notesSlide5.xml" Id="Red96a1a8a84c47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f41c927b1e415b" /><Relationship Type="http://schemas.openxmlformats.org/officeDocument/2006/relationships/notesSlide" Target="/ppt/notesSlides/notesSlide6.xml" Id="R139a5e6f172748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77729740df4767" /><Relationship Type="http://schemas.openxmlformats.org/officeDocument/2006/relationships/notesSlide" Target="/ppt/notesSlides/notesSlide7.xml" Id="R525a67ff61e348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0c5f6b21d34a5f" /><Relationship Type="http://schemas.openxmlformats.org/officeDocument/2006/relationships/notesSlide" Target="/ppt/notesSlides/notesSlide8.xml" Id="R6a57a431827a42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ee72d06ba747ef" /><Relationship Type="http://schemas.openxmlformats.org/officeDocument/2006/relationships/notesSlide" Target="/ppt/notesSlides/notesSlide9.xml" Id="Rb7ad948e4df949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ddcdd0a8a9411b" /><Relationship Type="http://schemas.openxmlformats.org/officeDocument/2006/relationships/notesSlide" Target="/ppt/notesSlides/notesSlide10.xml" Id="R6f1a017e62e440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948f9eb1d4407c" /><Relationship Type="http://schemas.openxmlformats.org/officeDocument/2006/relationships/notesSlide" Target="/ppt/notesSlides/notesSlide11.xml" Id="R066d73481fd24e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4a865705d7445a" /><Relationship Type="http://schemas.openxmlformats.org/officeDocument/2006/relationships/notesSlide" Target="/ppt/notesSlides/notesSlide12.xml" Id="Rf1780e6ec59949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dc63cc9b054862" /><Relationship Type="http://schemas.openxmlformats.org/officeDocument/2006/relationships/notesSlide" Target="/ppt/notesSlides/notesSlide13.xml" Id="R64e9190286e14d7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3f7b70670846e1" /><Relationship Type="http://schemas.openxmlformats.org/officeDocument/2006/relationships/notesSlide" Target="/ppt/notesSlides/notesSlide14.xml" Id="Rde3f8579e10b42c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1b10b066a342d7" /><Relationship Type="http://schemas.openxmlformats.org/officeDocument/2006/relationships/notesSlide" Target="/ppt/notesSlides/notesSlide15.xml" Id="R873a4cb0088e40b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a81f610f414a44" /><Relationship Type="http://schemas.openxmlformats.org/officeDocument/2006/relationships/notesSlide" Target="/ppt/notesSlides/notesSlide16.xml" Id="R0d57fa63e1df485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3346b7cdc848d8" /><Relationship Type="http://schemas.openxmlformats.org/officeDocument/2006/relationships/notesSlide" Target="/ppt/notesSlides/notesSlide17.xml" Id="Rce61d822ed9a458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c6ea849a0f4047" /><Relationship Type="http://schemas.openxmlformats.org/officeDocument/2006/relationships/notesSlide" Target="/ppt/notesSlides/notesSlide18.xml" Id="R48279a075e2545e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4a2236ce2b460d" /><Relationship Type="http://schemas.openxmlformats.org/officeDocument/2006/relationships/notesSlide" Target="/ppt/notesSlides/notesSlide19.xml" Id="R7658b8a458044fb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becadfda624e3a" /><Relationship Type="http://schemas.openxmlformats.org/officeDocument/2006/relationships/notesSlide" Target="/ppt/notesSlides/notesSlide20.xml" Id="R40408e3b997348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7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825B54-B645-43E1-8E7C-A5B73068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1C7E8"/>
            </a:solidFill>
            <a:prstDash val="solid"/>
          </a:ln>
        </p:spPr>
      </p:sp>
      <p:sp>
        <p:nvSpPr>
          <p:cNvPr id="2" name="Industrial Intelligence Lab   /   Aula 3">
            <a:extLst xmlns:a="http://schemas.openxmlformats.org/drawingml/2006/main">
              <a:ext uri="{FF2B5EF4-FFF2-40B4-BE49-F238E27FC236}">
                <a16:creationId xmlns:a16="http://schemas.microsoft.com/office/drawing/2014/main" id="{89DCC4FF-2FB8-4CEF-A2F7-B845067A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Industrial Intelligence Lab   /   Aula 3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6E53D12F-7629-4E35-9261-14760DE6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DC52C-F878-45B3-9AD6-A0A9E854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774"/>
            </a:solidFill>
            <a:prstDash val="solid"/>
          </a:ln>
        </p:spPr>
      </p:sp>
      <p:sp>
        <p:nvSpPr>
          <p:cNvPr id="5" name="INDUSTRIAL INTELLIGENCE LAB">
            <a:extLst xmlns:a="http://schemas.openxmlformats.org/drawingml/2006/main">
              <a:ext uri="{FF2B5EF4-FFF2-40B4-BE49-F238E27FC236}">
                <a16:creationId xmlns:a16="http://schemas.microsoft.com/office/drawing/2014/main" id="{9232BD67-93FB-47B3-877F-034125A6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95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95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95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95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95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95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95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95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95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95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INDUSTRIAL INTELLIGENCE LAB</a:t>
            </a:r>
          </a:p>
        </p:txBody>
      </p:sp>
      <p:sp>
        <p:nvSpPr>
          <p:cNvPr id="6" name="Docker, Docker Compose e a&#10;primeira interface industrial">
            <a:extLst xmlns:a="http://schemas.openxmlformats.org/drawingml/2006/main">
              <a:ext uri="{FF2B5EF4-FFF2-40B4-BE49-F238E27FC236}">
                <a16:creationId xmlns:a16="http://schemas.microsoft.com/office/drawing/2014/main" id="{358CAD04-5B2D-4ADB-A5C8-22E8AA01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0668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2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42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42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42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42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42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42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42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42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42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42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2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Docker, Docker Compose e a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42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2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primeira interface industrial</a:t>
            </a:r>
          </a:p>
        </p:txBody>
      </p:sp>
      <p:sp>
        <p:nvSpPr>
          <p:cNvPr id="7" name="Aula 3">
            <a:extLst xmlns:a="http://schemas.openxmlformats.org/drawingml/2006/main">
              <a:ext uri="{FF2B5EF4-FFF2-40B4-BE49-F238E27FC236}">
                <a16:creationId xmlns:a16="http://schemas.microsoft.com/office/drawing/2014/main" id="{C02816A0-5EC7-46FB-80BB-FA81E7A6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7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7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7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7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7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7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7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7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7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7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Aula 3</a:t>
            </a:r>
          </a:p>
        </p:txBody>
      </p:sp>
    </p:spTree>
    <p:extLst>
      <p:ext uri="{BB962C8B-B14F-4D97-AF65-F5344CB8AC3E}">
        <p14:creationId xmlns:p14="http://schemas.microsoft.com/office/powerpoint/2010/main" val="13989482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27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EECF9F-02FE-4FA0-A477-A3F8C992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1C7E8"/>
            </a:solidFill>
            <a:prstDash val="solid"/>
          </a:ln>
        </p:spPr>
      </p:sp>
      <p:sp>
        <p:nvSpPr>
          <p:cNvPr id="2" name="Industrial Intelligence Lab   /   Aula 3">
            <a:extLst xmlns:a="http://schemas.openxmlformats.org/drawingml/2006/main">
              <a:ext uri="{FF2B5EF4-FFF2-40B4-BE49-F238E27FC236}">
                <a16:creationId xmlns:a16="http://schemas.microsoft.com/office/drawing/2014/main" id="{55527F26-006D-472B-9054-ACC43684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Industrial Intelligence Lab   /   Aula 3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8CAFDF57-275D-495C-8F6F-0BCF6176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0356E-33F5-4B2F-BFE7-705EDC87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774"/>
            </a:solidFill>
            <a:prstDash val="solid"/>
          </a:ln>
        </p:spPr>
      </p:sp>
      <p:sp>
        <p:nvSpPr>
          <p:cNvPr id="5" name="O laboratório até aqui">
            <a:extLst xmlns:a="http://schemas.openxmlformats.org/drawingml/2006/main">
              <a:ext uri="{FF2B5EF4-FFF2-40B4-BE49-F238E27FC236}">
                <a16:creationId xmlns:a16="http://schemas.microsoft.com/office/drawing/2014/main" id="{5199F276-0440-49CF-9E36-E33726CA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O laboratório até aqui</a:t>
            </a:r>
          </a:p>
        </p:txBody>
      </p:sp>
      <p:sp>
        <p:nvSpPr>
          <p:cNvPr id="6" name="Aula 1">
            <a:extLst xmlns:a="http://schemas.openxmlformats.org/drawingml/2006/main">
              <a:ext uri="{FF2B5EF4-FFF2-40B4-BE49-F238E27FC236}">
                <a16:creationId xmlns:a16="http://schemas.microsoft.com/office/drawing/2014/main" id="{25BA8071-16C4-449C-A3B2-719D99A5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Aula 1</a:t>
            </a:r>
          </a:p>
        </p:txBody>
      </p:sp>
      <p:sp>
        <p:nvSpPr>
          <p:cNvPr id="7" name="TEP e OPC UA no Pi 4&#10;Pressão, nível e temperatura no UAExper">
            <a:extLst xmlns:a="http://schemas.openxmlformats.org/drawingml/2006/main">
              <a:ext uri="{FF2B5EF4-FFF2-40B4-BE49-F238E27FC236}">
                <a16:creationId xmlns:a16="http://schemas.microsoft.com/office/drawing/2014/main" id="{43745D0F-3A49-4AD1-974E-A81FD03D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38350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TEP e OPC UA no Pi 4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Pressão, nível e temperatura no UAExpert</a:t>
            </a:r>
          </a:p>
        </p:txBody>
      </p:sp>
      <p:sp>
        <p:nvSpPr>
          <p:cNvPr id="8" name="Aula 2">
            <a:extLst xmlns:a="http://schemas.openxmlformats.org/drawingml/2006/main">
              <a:ext uri="{FF2B5EF4-FFF2-40B4-BE49-F238E27FC236}">
                <a16:creationId xmlns:a16="http://schemas.microsoft.com/office/drawing/2014/main" id="{C03231C4-7E65-462F-AD8D-206606EF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Aula 2</a:t>
            </a:r>
          </a:p>
        </p:txBody>
      </p:sp>
      <p:sp>
        <p:nvSpPr>
          <p:cNvPr id="9" name="Pi 3 como gateway e firewall&#10;TCP 4840 permitida, SSH direto ">
            <a:extLst xmlns:a="http://schemas.openxmlformats.org/drawingml/2006/main">
              <a:ext uri="{FF2B5EF4-FFF2-40B4-BE49-F238E27FC236}">
                <a16:creationId xmlns:a16="http://schemas.microsoft.com/office/drawing/2014/main" id="{277303D7-03D1-4350-A5CC-400D63C2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52775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Pi 3 como gateway e firewall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TCP 4840 permitida, SSH direto bloqueado</a:t>
            </a:r>
          </a:p>
        </p:txBody>
      </p:sp>
      <p:sp>
        <p:nvSpPr>
          <p:cNvPr id="10" name="Hoje: serviços no Compose e uma interface no navegador">
            <a:extLst xmlns:a="http://schemas.openxmlformats.org/drawingml/2006/main">
              <a:ext uri="{FF2B5EF4-FFF2-40B4-BE49-F238E27FC236}">
                <a16:creationId xmlns:a16="http://schemas.microsoft.com/office/drawing/2014/main" id="{B8989A2A-0723-4DEC-B3A8-77C39ABC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Hoje: serviços no Compose e uma interface no navegador</a:t>
            </a:r>
          </a:p>
        </p:txBody>
      </p:sp>
    </p:spTree>
    <p:extLst>
      <p:ext uri="{BB962C8B-B14F-4D97-AF65-F5344CB8AC3E}">
        <p14:creationId xmlns:p14="http://schemas.microsoft.com/office/powerpoint/2010/main" val="6888507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27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429B2-1616-4112-AEA1-9FA009D1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1C7E8"/>
            </a:solidFill>
            <a:prstDash val="solid"/>
          </a:ln>
        </p:spPr>
      </p:sp>
      <p:sp>
        <p:nvSpPr>
          <p:cNvPr id="2" name="Industrial Intelligence Lab   /   Aula 3">
            <a:extLst xmlns:a="http://schemas.openxmlformats.org/drawingml/2006/main">
              <a:ext uri="{FF2B5EF4-FFF2-40B4-BE49-F238E27FC236}">
                <a16:creationId xmlns:a16="http://schemas.microsoft.com/office/drawing/2014/main" id="{2238A5CB-DDEF-4710-A73F-0123338E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Industrial Intelligence Lab   /   Aula 3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8D077CE3-36DC-41A8-BBDA-94D56998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6C34B0-880F-4A8C-8CAB-183B66AA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774"/>
            </a:solidFill>
            <a:prstDash val="solid"/>
          </a:ln>
        </p:spPr>
      </p:sp>
      <p:sp>
        <p:nvSpPr>
          <p:cNvPr id="5" name="Aplicação executada manualmente">
            <a:extLst xmlns:a="http://schemas.openxmlformats.org/drawingml/2006/main">
              <a:ext uri="{FF2B5EF4-FFF2-40B4-BE49-F238E27FC236}">
                <a16:creationId xmlns:a16="http://schemas.microsoft.com/office/drawing/2014/main" id="{17DDE171-175C-48D5-8934-3E423614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Aplicação executada manualmente</a:t>
            </a:r>
          </a:p>
        </p:txBody>
      </p:sp>
      <p:sp>
        <p:nvSpPr>
          <p:cNvPr id="6" name="No terminal">
            <a:extLst xmlns:a="http://schemas.openxmlformats.org/drawingml/2006/main">
              <a:ext uri="{FF2B5EF4-FFF2-40B4-BE49-F238E27FC236}">
                <a16:creationId xmlns:a16="http://schemas.microsoft.com/office/drawing/2014/main" id="{0D191498-E3B4-48C0-A833-36DA537C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No terminal</a:t>
            </a:r>
          </a:p>
        </p:txBody>
      </p:sp>
      <p:sp>
        <p:nvSpPr>
          <p:cNvPr id="7" name="Ativar a venv e iniciar o script">
            <a:extLst xmlns:a="http://schemas.openxmlformats.org/drawingml/2006/main">
              <a:ext uri="{FF2B5EF4-FFF2-40B4-BE49-F238E27FC236}">
                <a16:creationId xmlns:a16="http://schemas.microsoft.com/office/drawing/2014/main" id="{0D9E4577-A018-4970-ADCC-B7151C6D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38350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Ativar a venv e iniciar o script</a:t>
            </a:r>
          </a:p>
        </p:txBody>
      </p:sp>
      <p:sp>
        <p:nvSpPr>
          <p:cNvPr id="8" name="Na próxima execução">
            <a:extLst xmlns:a="http://schemas.openxmlformats.org/drawingml/2006/main">
              <a:ext uri="{FF2B5EF4-FFF2-40B4-BE49-F238E27FC236}">
                <a16:creationId xmlns:a16="http://schemas.microsoft.com/office/drawing/2014/main" id="{ABABD78E-4DE0-464D-88E5-CB8E6536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Na próxima execução</a:t>
            </a:r>
          </a:p>
        </p:txBody>
      </p:sp>
      <p:sp>
        <p:nvSpPr>
          <p:cNvPr id="9" name="Conferir dependências, porta e processo novamente">
            <a:extLst xmlns:a="http://schemas.openxmlformats.org/drawingml/2006/main">
              <a:ext uri="{FF2B5EF4-FFF2-40B4-BE49-F238E27FC236}">
                <a16:creationId xmlns:a16="http://schemas.microsoft.com/office/drawing/2014/main" id="{90F60658-FE16-437E-8616-D6E14FF8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52775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Conferir dependências, porta e processo novamente</a:t>
            </a:r>
          </a:p>
        </p:txBody>
      </p:sp>
      <p:sp>
        <p:nvSpPr>
          <p:cNvPr id="10" name="Quando algo falha">
            <a:extLst xmlns:a="http://schemas.openxmlformats.org/drawingml/2006/main">
              <a:ext uri="{FF2B5EF4-FFF2-40B4-BE49-F238E27FC236}">
                <a16:creationId xmlns:a16="http://schemas.microsoft.com/office/drawing/2014/main" id="{AEC4A1A0-45BD-4A0F-9B54-58ED07CA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Quando algo falha</a:t>
            </a:r>
          </a:p>
        </p:txBody>
      </p:sp>
      <p:sp>
        <p:nvSpPr>
          <p:cNvPr id="11" name="Descobrir onde consultar o estado e os logs">
            <a:extLst xmlns:a="http://schemas.openxmlformats.org/drawingml/2006/main">
              <a:ext uri="{FF2B5EF4-FFF2-40B4-BE49-F238E27FC236}">
                <a16:creationId xmlns:a16="http://schemas.microsoft.com/office/drawing/2014/main" id="{EC7E2AB5-513B-41D3-990F-1FEF9EF7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67200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Descobrir onde consultar o estado e os logs</a:t>
            </a:r>
          </a:p>
        </p:txBody>
      </p:sp>
      <p:sp>
        <p:nvSpPr>
          <p:cNvPr id="12" name="O problema de hoje é organizar a execução">
            <a:extLst xmlns:a="http://schemas.openxmlformats.org/drawingml/2006/main">
              <a:ext uri="{FF2B5EF4-FFF2-40B4-BE49-F238E27FC236}">
                <a16:creationId xmlns:a16="http://schemas.microsoft.com/office/drawing/2014/main" id="{7552F033-77B0-416F-B947-0522D5C0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O problema de hoje é organizar a execução</a:t>
            </a:r>
          </a:p>
        </p:txBody>
      </p:sp>
    </p:spTree>
    <p:extLst>
      <p:ext uri="{BB962C8B-B14F-4D97-AF65-F5344CB8AC3E}">
        <p14:creationId xmlns:p14="http://schemas.microsoft.com/office/powerpoint/2010/main" val="1548241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27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3A03F9-9175-4EE4-ACF0-BFB03931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1C7E8"/>
            </a:solidFill>
            <a:prstDash val="solid"/>
          </a:ln>
        </p:spPr>
      </p:sp>
      <p:sp>
        <p:nvSpPr>
          <p:cNvPr id="2" name="Industrial Intelligence Lab   /   Aula 3">
            <a:extLst xmlns:a="http://schemas.openxmlformats.org/drawingml/2006/main">
              <a:ext uri="{FF2B5EF4-FFF2-40B4-BE49-F238E27FC236}">
                <a16:creationId xmlns:a16="http://schemas.microsoft.com/office/drawing/2014/main" id="{598EE5F7-AD2F-48C9-B3DE-9B08C5CD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Industrial Intelligence Lab   /   Aula 3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DBF09A10-E634-4474-9DD2-DAC3985E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B0104-7CC7-436C-BC21-59E191B1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774"/>
            </a:solidFill>
            <a:prstDash val="solid"/>
          </a:ln>
        </p:spPr>
      </p:sp>
      <p:sp>
        <p:nvSpPr>
          <p:cNvPr id="5" name="O papel dos containers">
            <a:extLst xmlns:a="http://schemas.openxmlformats.org/drawingml/2006/main">
              <a:ext uri="{FF2B5EF4-FFF2-40B4-BE49-F238E27FC236}">
                <a16:creationId xmlns:a16="http://schemas.microsoft.com/office/drawing/2014/main" id="{2FFAA339-088E-45E7-9E4D-F5B175B0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O papel dos containers</a:t>
            </a:r>
          </a:p>
        </p:txBody>
      </p:sp>
      <p:sp>
        <p:nvSpPr>
          <p:cNvPr id="6" name="Empacotamento">
            <a:extLst xmlns:a="http://schemas.openxmlformats.org/drawingml/2006/main">
              <a:ext uri="{FF2B5EF4-FFF2-40B4-BE49-F238E27FC236}">
                <a16:creationId xmlns:a16="http://schemas.microsoft.com/office/drawing/2014/main" id="{53A9E25E-BB80-42D9-B1FA-CF3349F9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Empacotamento</a:t>
            </a:r>
          </a:p>
        </p:txBody>
      </p:sp>
      <p:sp>
        <p:nvSpPr>
          <p:cNvPr id="7" name="Código, Python e dependências na imagem">
            <a:extLst xmlns:a="http://schemas.openxmlformats.org/drawingml/2006/main">
              <a:ext uri="{FF2B5EF4-FFF2-40B4-BE49-F238E27FC236}">
                <a16:creationId xmlns:a16="http://schemas.microsoft.com/office/drawing/2014/main" id="{ECA2E911-DDD7-4A26-8FC5-A0983F75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38350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Código, Python e dependências na imagem</a:t>
            </a:r>
          </a:p>
        </p:txBody>
      </p:sp>
      <p:sp>
        <p:nvSpPr>
          <p:cNvPr id="8" name="Execução">
            <a:extLst xmlns:a="http://schemas.openxmlformats.org/drawingml/2006/main">
              <a:ext uri="{FF2B5EF4-FFF2-40B4-BE49-F238E27FC236}">
                <a16:creationId xmlns:a16="http://schemas.microsoft.com/office/drawing/2014/main" id="{F296B9CE-4194-4CC6-8200-5853E7DA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Execução</a:t>
            </a:r>
          </a:p>
        </p:txBody>
      </p:sp>
      <p:sp>
        <p:nvSpPr>
          <p:cNvPr id="9" name="Processos isolados com configuração explícita">
            <a:extLst xmlns:a="http://schemas.openxmlformats.org/drawingml/2006/main">
              <a:ext uri="{FF2B5EF4-FFF2-40B4-BE49-F238E27FC236}">
                <a16:creationId xmlns:a16="http://schemas.microsoft.com/office/drawing/2014/main" id="{27803DCB-A035-48C9-8F5F-89E55134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52775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Processos isolados com configuração explícita</a:t>
            </a:r>
          </a:p>
        </p:txBody>
      </p:sp>
      <p:sp>
        <p:nvSpPr>
          <p:cNvPr id="10" name="Operação">
            <a:extLst xmlns:a="http://schemas.openxmlformats.org/drawingml/2006/main">
              <a:ext uri="{FF2B5EF4-FFF2-40B4-BE49-F238E27FC236}">
                <a16:creationId xmlns:a16="http://schemas.microsoft.com/office/drawing/2014/main" id="{B0EAEA84-A9AA-42B8-83E1-F191CD69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Operação</a:t>
            </a:r>
          </a:p>
        </p:txBody>
      </p:sp>
      <p:sp>
        <p:nvSpPr>
          <p:cNvPr id="11" name="Estado, logs e reinicialização por serviço">
            <a:extLst xmlns:a="http://schemas.openxmlformats.org/drawingml/2006/main">
              <a:ext uri="{FF2B5EF4-FFF2-40B4-BE49-F238E27FC236}">
                <a16:creationId xmlns:a16="http://schemas.microsoft.com/office/drawing/2014/main" id="{235009F8-E16B-4435-B5B8-638DE94D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67200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Estado, logs e reinicialização por serviço</a:t>
            </a:r>
          </a:p>
        </p:txBody>
      </p:sp>
      <p:sp>
        <p:nvSpPr>
          <p:cNvPr id="12" name="O kernel continua sendo o do host Linux">
            <a:extLst xmlns:a="http://schemas.openxmlformats.org/drawingml/2006/main">
              <a:ext uri="{FF2B5EF4-FFF2-40B4-BE49-F238E27FC236}">
                <a16:creationId xmlns:a16="http://schemas.microsoft.com/office/drawing/2014/main" id="{AA9716C2-D8F1-41A9-90C7-6DDF1BBC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O kernel continua sendo o do host Linux</a:t>
            </a:r>
          </a:p>
        </p:txBody>
      </p:sp>
    </p:spTree>
    <p:extLst>
      <p:ext uri="{BB962C8B-B14F-4D97-AF65-F5344CB8AC3E}">
        <p14:creationId xmlns:p14="http://schemas.microsoft.com/office/powerpoint/2010/main" val="17792669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27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639873-9E26-4265-9471-E63D3672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1C7E8"/>
            </a:solidFill>
            <a:prstDash val="solid"/>
          </a:ln>
        </p:spPr>
      </p:sp>
      <p:sp>
        <p:nvSpPr>
          <p:cNvPr id="2" name="Industrial Intelligence Lab   /   Aula 3">
            <a:extLst xmlns:a="http://schemas.openxmlformats.org/drawingml/2006/main">
              <a:ext uri="{FF2B5EF4-FFF2-40B4-BE49-F238E27FC236}">
                <a16:creationId xmlns:a16="http://schemas.microsoft.com/office/drawing/2014/main" id="{C998914B-E164-4DD2-807B-2BF0B596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Industrial Intelligence Lab   /   Aula 3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998E9063-ECF4-4FA3-8932-C19618A9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FBFFF-B34F-40E2-A09F-649A4202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774"/>
            </a:solidFill>
            <a:prstDash val="solid"/>
          </a:ln>
        </p:spPr>
      </p:sp>
      <p:sp>
        <p:nvSpPr>
          <p:cNvPr id="5" name="Quatro conceitos do Docker">
            <a:extLst xmlns:a="http://schemas.openxmlformats.org/drawingml/2006/main">
              <a:ext uri="{FF2B5EF4-FFF2-40B4-BE49-F238E27FC236}">
                <a16:creationId xmlns:a16="http://schemas.microsoft.com/office/drawing/2014/main" id="{D30F5EF6-E711-48B1-9A8E-F847A416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Quatro conceitos do Docker</a:t>
            </a:r>
          </a:p>
        </p:txBody>
      </p:sp>
      <p:sp>
        <p:nvSpPr>
          <p:cNvPr id="6" name="Imagem">
            <a:extLst xmlns:a="http://schemas.openxmlformats.org/drawingml/2006/main">
              <a:ext uri="{FF2B5EF4-FFF2-40B4-BE49-F238E27FC236}">
                <a16:creationId xmlns:a16="http://schemas.microsoft.com/office/drawing/2014/main" id="{4F039FE2-67C4-440C-A987-D7144494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Imagem</a:t>
            </a:r>
          </a:p>
        </p:txBody>
      </p:sp>
      <p:sp>
        <p:nvSpPr>
          <p:cNvPr id="7" name="Pacote usado para criar containers">
            <a:extLst xmlns:a="http://schemas.openxmlformats.org/drawingml/2006/main">
              <a:ext uri="{FF2B5EF4-FFF2-40B4-BE49-F238E27FC236}">
                <a16:creationId xmlns:a16="http://schemas.microsoft.com/office/drawing/2014/main" id="{58D5EA45-DE87-413A-9991-3C6AC54B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38350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Pacote usado para criar containers</a:t>
            </a:r>
          </a:p>
        </p:txBody>
      </p:sp>
      <p:sp>
        <p:nvSpPr>
          <p:cNvPr id="8" name="Container">
            <a:extLst xmlns:a="http://schemas.openxmlformats.org/drawingml/2006/main">
              <a:ext uri="{FF2B5EF4-FFF2-40B4-BE49-F238E27FC236}">
                <a16:creationId xmlns:a16="http://schemas.microsoft.com/office/drawing/2014/main" id="{505FA7D0-32DB-4238-9F96-E205AFAC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Container</a:t>
            </a:r>
          </a:p>
        </p:txBody>
      </p:sp>
      <p:sp>
        <p:nvSpPr>
          <p:cNvPr id="9" name="Instância em execução de uma imagem">
            <a:extLst xmlns:a="http://schemas.openxmlformats.org/drawingml/2006/main">
              <a:ext uri="{FF2B5EF4-FFF2-40B4-BE49-F238E27FC236}">
                <a16:creationId xmlns:a16="http://schemas.microsoft.com/office/drawing/2014/main" id="{3A6E301B-23A1-48E2-AAC0-EC53E2D9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14650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Instância em execução de uma imagem</a:t>
            </a:r>
          </a:p>
        </p:txBody>
      </p:sp>
      <p:sp>
        <p:nvSpPr>
          <p:cNvPr id="10" name="Volume">
            <a:extLst xmlns:a="http://schemas.openxmlformats.org/drawingml/2006/main">
              <a:ext uri="{FF2B5EF4-FFF2-40B4-BE49-F238E27FC236}">
                <a16:creationId xmlns:a16="http://schemas.microsoft.com/office/drawing/2014/main" id="{F49FC4E7-0A41-4995-9C08-CB8D8670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Volume</a:t>
            </a:r>
          </a:p>
        </p:txBody>
      </p:sp>
      <p:sp>
        <p:nvSpPr>
          <p:cNvPr id="11" name="Dados que precisam sobreviver ao container">
            <a:extLst xmlns:a="http://schemas.openxmlformats.org/drawingml/2006/main">
              <a:ext uri="{FF2B5EF4-FFF2-40B4-BE49-F238E27FC236}">
                <a16:creationId xmlns:a16="http://schemas.microsoft.com/office/drawing/2014/main" id="{1BF48AE5-A49D-495B-8ACF-680E4FC0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90950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Dados que precisam sobreviver ao container</a:t>
            </a:r>
          </a:p>
        </p:txBody>
      </p:sp>
      <p:sp>
        <p:nvSpPr>
          <p:cNvPr id="12" name="Rede">
            <a:extLst xmlns:a="http://schemas.openxmlformats.org/drawingml/2006/main">
              <a:ext uri="{FF2B5EF4-FFF2-40B4-BE49-F238E27FC236}">
                <a16:creationId xmlns:a16="http://schemas.microsoft.com/office/drawing/2014/main" id="{0E2C968C-2215-457A-A03B-0F76FE8F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Rede</a:t>
            </a:r>
          </a:p>
        </p:txBody>
      </p:sp>
      <p:sp>
        <p:nvSpPr>
          <p:cNvPr id="13" name="Comunicação entre os serviços">
            <a:extLst xmlns:a="http://schemas.openxmlformats.org/drawingml/2006/main">
              <a:ext uri="{FF2B5EF4-FFF2-40B4-BE49-F238E27FC236}">
                <a16:creationId xmlns:a16="http://schemas.microsoft.com/office/drawing/2014/main" id="{34BABB02-03F0-42B7-8524-5722F8A7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67250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Comunicação entre os serviços</a:t>
            </a:r>
          </a:p>
        </p:txBody>
      </p:sp>
      <p:sp>
        <p:nvSpPr>
          <p:cNvPr id="14" name="Nesta aula, as tendências ficam em memória, sem volume de hi">
            <a:extLst xmlns:a="http://schemas.openxmlformats.org/drawingml/2006/main">
              <a:ext uri="{FF2B5EF4-FFF2-40B4-BE49-F238E27FC236}">
                <a16:creationId xmlns:a16="http://schemas.microsoft.com/office/drawing/2014/main" id="{265D14B1-8C1C-4E5D-B749-5535BAFC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Nesta aula, as tendências ficam em memória, sem volume de histórico</a:t>
            </a:r>
          </a:p>
        </p:txBody>
      </p:sp>
    </p:spTree>
    <p:extLst>
      <p:ext uri="{BB962C8B-B14F-4D97-AF65-F5344CB8AC3E}">
        <p14:creationId xmlns:p14="http://schemas.microsoft.com/office/powerpoint/2010/main" val="6140565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27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272FEB-E1AC-4D3A-9B3B-A4D9B6AC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1C7E8"/>
            </a:solidFill>
            <a:prstDash val="solid"/>
          </a:ln>
        </p:spPr>
      </p:sp>
      <p:sp>
        <p:nvSpPr>
          <p:cNvPr id="2" name="Industrial Intelligence Lab   /   Aula 3">
            <a:extLst xmlns:a="http://schemas.openxmlformats.org/drawingml/2006/main">
              <a:ext uri="{FF2B5EF4-FFF2-40B4-BE49-F238E27FC236}">
                <a16:creationId xmlns:a16="http://schemas.microsoft.com/office/drawing/2014/main" id="{455A862D-2D03-4F6B-B3C9-C87A8DCD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Industrial Intelligence Lab   /   Aula 3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51523F33-0E0F-4F17-B3B6-372D8D47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E245E-358B-47C6-8962-53A733FE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774"/>
            </a:solidFill>
            <a:prstDash val="solid"/>
          </a:ln>
        </p:spPr>
      </p:sp>
      <p:sp>
        <p:nvSpPr>
          <p:cNvPr id="5" name="Docker Compose">
            <a:extLst xmlns:a="http://schemas.openxmlformats.org/drawingml/2006/main">
              <a:ext uri="{FF2B5EF4-FFF2-40B4-BE49-F238E27FC236}">
                <a16:creationId xmlns:a16="http://schemas.microsoft.com/office/drawing/2014/main" id="{5D10EFAB-480A-4370-9366-CEF33597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Docker Compose</a:t>
            </a:r>
          </a:p>
        </p:txBody>
      </p:sp>
      <p:sp>
        <p:nvSpPr>
          <p:cNvPr id="6" name="Um arquivo YAML">
            <a:extLst xmlns:a="http://schemas.openxmlformats.org/drawingml/2006/main">
              <a:ext uri="{FF2B5EF4-FFF2-40B4-BE49-F238E27FC236}">
                <a16:creationId xmlns:a16="http://schemas.microsoft.com/office/drawing/2014/main" id="{7BC4E08C-7743-41F9-A627-BAD68FD6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Um arquivo YAML</a:t>
            </a:r>
          </a:p>
        </p:txBody>
      </p:sp>
      <p:sp>
        <p:nvSpPr>
          <p:cNvPr id="7" name="Serviços, redes, portas e política de reinício">
            <a:extLst xmlns:a="http://schemas.openxmlformats.org/drawingml/2006/main">
              <a:ext uri="{FF2B5EF4-FFF2-40B4-BE49-F238E27FC236}">
                <a16:creationId xmlns:a16="http://schemas.microsoft.com/office/drawing/2014/main" id="{DC387AE3-E58D-450E-8F34-5AD451C9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38350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Serviços, redes, portas e política de reinício</a:t>
            </a:r>
          </a:p>
        </p:txBody>
      </p:sp>
      <p:sp>
        <p:nvSpPr>
          <p:cNvPr id="8" name="tep-opc">
            <a:extLst xmlns:a="http://schemas.openxmlformats.org/drawingml/2006/main">
              <a:ext uri="{FF2B5EF4-FFF2-40B4-BE49-F238E27FC236}">
                <a16:creationId xmlns:a16="http://schemas.microsoft.com/office/drawing/2014/main" id="{83B9653C-5197-460C-BA20-7FDF21E6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tep-opc</a:t>
            </a:r>
          </a:p>
        </p:txBody>
      </p:sp>
      <p:sp>
        <p:nvSpPr>
          <p:cNvPr id="9" name="Simulador TEP integrado ao servidor OPC UA">
            <a:extLst xmlns:a="http://schemas.openxmlformats.org/drawingml/2006/main">
              <a:ext uri="{FF2B5EF4-FFF2-40B4-BE49-F238E27FC236}">
                <a16:creationId xmlns:a16="http://schemas.microsoft.com/office/drawing/2014/main" id="{9411D559-99CE-4CAB-BC18-2DDEC6B0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52775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Simulador TEP integrado ao servidor OPC UA</a:t>
            </a:r>
          </a:p>
        </p:txBody>
      </p:sp>
      <p:sp>
        <p:nvSpPr>
          <p:cNvPr id="10" name="streamlit">
            <a:extLst xmlns:a="http://schemas.openxmlformats.org/drawingml/2006/main">
              <a:ext uri="{FF2B5EF4-FFF2-40B4-BE49-F238E27FC236}">
                <a16:creationId xmlns:a16="http://schemas.microsoft.com/office/drawing/2014/main" id="{D28F962D-AAF9-4831-87E9-3E896E2B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streamlit</a:t>
            </a:r>
          </a:p>
        </p:txBody>
      </p:sp>
      <p:sp>
        <p:nvSpPr>
          <p:cNvPr id="11" name="Cliente OPC UA e interface de supervisão">
            <a:extLst xmlns:a="http://schemas.openxmlformats.org/drawingml/2006/main">
              <a:ext uri="{FF2B5EF4-FFF2-40B4-BE49-F238E27FC236}">
                <a16:creationId xmlns:a16="http://schemas.microsoft.com/office/drawing/2014/main" id="{78F431F0-3D61-4842-B021-C7222505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67200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Cliente OPC UA e interface de supervisão</a:t>
            </a:r>
          </a:p>
        </p:txBody>
      </p:sp>
      <p:sp>
        <p:nvSpPr>
          <p:cNvPr id="12" name="O Compose coordena a aplicação no Pi 4">
            <a:extLst xmlns:a="http://schemas.openxmlformats.org/drawingml/2006/main">
              <a:ext uri="{FF2B5EF4-FFF2-40B4-BE49-F238E27FC236}">
                <a16:creationId xmlns:a16="http://schemas.microsoft.com/office/drawing/2014/main" id="{3686F386-3427-40C0-8982-C62B9CF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O Compose coordena a aplicação no Pi 4</a:t>
            </a:r>
          </a:p>
        </p:txBody>
      </p:sp>
    </p:spTree>
    <p:extLst>
      <p:ext uri="{BB962C8B-B14F-4D97-AF65-F5344CB8AC3E}">
        <p14:creationId xmlns:p14="http://schemas.microsoft.com/office/powerpoint/2010/main" val="14688323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27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A44AAA-2222-475B-B7F2-84D7F53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1C7E8"/>
            </a:solidFill>
            <a:prstDash val="solid"/>
          </a:ln>
        </p:spPr>
      </p:sp>
      <p:sp>
        <p:nvSpPr>
          <p:cNvPr id="2" name="Industrial Intelligence Lab   /   Aula 3">
            <a:extLst xmlns:a="http://schemas.openxmlformats.org/drawingml/2006/main">
              <a:ext uri="{FF2B5EF4-FFF2-40B4-BE49-F238E27FC236}">
                <a16:creationId xmlns:a16="http://schemas.microsoft.com/office/drawing/2014/main" id="{7FE576E0-FD18-493D-8ADD-AFE93120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Industrial Intelligence Lab   /   Aula 3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3D4C35D6-AA32-4761-97D4-E84627E1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EEABC-6A55-40EA-B997-1BC03681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774"/>
            </a:solidFill>
            <a:prstDash val="solid"/>
          </a:ln>
        </p:spPr>
      </p:sp>
      <p:sp>
        <p:nvSpPr>
          <p:cNvPr id="5" name="Arquitetura da Aula 3">
            <a:extLst xmlns:a="http://schemas.openxmlformats.org/drawingml/2006/main">
              <a:ext uri="{FF2B5EF4-FFF2-40B4-BE49-F238E27FC236}">
                <a16:creationId xmlns:a16="http://schemas.microsoft.com/office/drawing/2014/main" id="{81325474-B1FB-40BB-B63E-455C7BB2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Arquitetura da Aula 3</a:t>
            </a:r>
          </a:p>
        </p:txBody>
      </p:sp>
      <p:sp>
        <p:nvSpPr>
          <p:cNvPr id="6" name="ZONA TI">
            <a:extLst xmlns:a="http://schemas.openxmlformats.org/drawingml/2006/main">
              <a:ext uri="{FF2B5EF4-FFF2-40B4-BE49-F238E27FC236}">
                <a16:creationId xmlns:a16="http://schemas.microsoft.com/office/drawing/2014/main" id="{C6952F31-04A4-4A75-82A3-BE69D6DC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ZONA TI</a:t>
            </a:r>
          </a:p>
        </p:txBody>
      </p:sp>
      <p:sp>
        <p:nvSpPr>
          <p:cNvPr id="7" name="GATEWAY">
            <a:extLst xmlns:a="http://schemas.openxmlformats.org/drawingml/2006/main">
              <a:ext uri="{FF2B5EF4-FFF2-40B4-BE49-F238E27FC236}">
                <a16:creationId xmlns:a16="http://schemas.microsoft.com/office/drawing/2014/main" id="{5E32C8B3-A825-4F38-A412-B0DB33D6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90700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GATEWAY</a:t>
            </a:r>
          </a:p>
        </p:txBody>
      </p:sp>
      <p:sp>
        <p:nvSpPr>
          <p:cNvPr id="8" name="ZONA TA">
            <a:extLst xmlns:a="http://schemas.openxmlformats.org/drawingml/2006/main">
              <a:ext uri="{FF2B5EF4-FFF2-40B4-BE49-F238E27FC236}">
                <a16:creationId xmlns:a16="http://schemas.microsoft.com/office/drawing/2014/main" id="{A42A8567-F6D1-4EED-B196-CFE8A89C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907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ZONA 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F58CA-16AE-4831-9F77-818F33B9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2714625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77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6E5ECD-1DC5-4CA4-BA1E-8F9AC7B6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14575"/>
            <a:ext cx="2714625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7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44521-C6F8-4826-B2BE-FEE7073B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14575"/>
            <a:ext cx="31432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774"/>
            </a:solidFill>
            <a:prstDash val="solid"/>
          </a:ln>
        </p:spPr>
      </p:sp>
      <p:sp>
        <p:nvSpPr>
          <p:cNvPr id="12" name="Notebook">
            <a:extLst xmlns:a="http://schemas.openxmlformats.org/drawingml/2006/main">
              <a:ext uri="{FF2B5EF4-FFF2-40B4-BE49-F238E27FC236}">
                <a16:creationId xmlns:a16="http://schemas.microsoft.com/office/drawing/2014/main" id="{9703F241-398F-4BFD-8030-12DC649F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05075"/>
            <a:ext cx="2314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Notebook</a:t>
            </a:r>
          </a:p>
        </p:txBody>
      </p:sp>
      <p:sp>
        <p:nvSpPr>
          <p:cNvPr id="13" name="Windows&#10;192.168.1.16&#10;Navegador / UAExpert">
            <a:extLst xmlns:a="http://schemas.openxmlformats.org/drawingml/2006/main">
              <a:ext uri="{FF2B5EF4-FFF2-40B4-BE49-F238E27FC236}">
                <a16:creationId xmlns:a16="http://schemas.microsoft.com/office/drawing/2014/main" id="{63BECEE9-FBBF-4051-9430-9D32667F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095625"/>
            <a:ext cx="23336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Windows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192.168.1.16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Navegador / UAExpert</a:t>
            </a:r>
          </a:p>
        </p:txBody>
      </p:sp>
      <p:sp>
        <p:nvSpPr>
          <p:cNvPr id="14" name="Raspberry Pi 3">
            <a:extLst xmlns:a="http://schemas.openxmlformats.org/drawingml/2006/main">
              <a:ext uri="{FF2B5EF4-FFF2-40B4-BE49-F238E27FC236}">
                <a16:creationId xmlns:a16="http://schemas.microsoft.com/office/drawing/2014/main" id="{4E8D6861-8200-46B2-8088-7C90EA7A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05075"/>
            <a:ext cx="2314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Raspberry Pi 3</a:t>
            </a:r>
          </a:p>
        </p:txBody>
      </p:sp>
      <p:sp>
        <p:nvSpPr>
          <p:cNvPr id="15" name="Wi-Fi: 192.168.1.17&#10;Ethernet: 10.77.0.1&#10;nftables">
            <a:extLst xmlns:a="http://schemas.openxmlformats.org/drawingml/2006/main">
              <a:ext uri="{FF2B5EF4-FFF2-40B4-BE49-F238E27FC236}">
                <a16:creationId xmlns:a16="http://schemas.microsoft.com/office/drawing/2014/main" id="{F4B93736-071A-4AB7-9D9D-9B1E369B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95625"/>
            <a:ext cx="23336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Wi-Fi: 192.168.1.17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Ethernet: 10.77.0.1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nftables</a:t>
            </a:r>
          </a:p>
        </p:txBody>
      </p:sp>
      <p:sp>
        <p:nvSpPr>
          <p:cNvPr id="16" name="Raspberry Pi 4">
            <a:extLst xmlns:a="http://schemas.openxmlformats.org/drawingml/2006/main">
              <a:ext uri="{FF2B5EF4-FFF2-40B4-BE49-F238E27FC236}">
                <a16:creationId xmlns:a16="http://schemas.microsoft.com/office/drawing/2014/main" id="{DC173BF8-2BF3-4192-B426-636D5FF1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505075"/>
            <a:ext cx="2743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Raspberry Pi 4</a:t>
            </a:r>
          </a:p>
        </p:txBody>
      </p:sp>
      <p:sp>
        <p:nvSpPr>
          <p:cNvPr id="17" name="Ethernet: 10.77.0.10">
            <a:extLst xmlns:a="http://schemas.openxmlformats.org/drawingml/2006/main">
              <a:ext uri="{FF2B5EF4-FFF2-40B4-BE49-F238E27FC236}">
                <a16:creationId xmlns:a16="http://schemas.microsoft.com/office/drawing/2014/main" id="{CEF5525C-ED92-4424-991D-44F60C3A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00375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Ethernet: 10.77.0.10</a:t>
            </a:r>
          </a:p>
        </p:txBody>
      </p:sp>
      <p:sp>
        <p:nvSpPr>
          <p:cNvPr id="18" name="Compose&#10;tep-opc + streamlit">
            <a:extLst xmlns:a="http://schemas.openxmlformats.org/drawingml/2006/main">
              <a:ext uri="{FF2B5EF4-FFF2-40B4-BE49-F238E27FC236}">
                <a16:creationId xmlns:a16="http://schemas.microsoft.com/office/drawing/2014/main" id="{F3EF7D19-8B2E-4E3E-AFEF-D9B63ADE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476625"/>
            <a:ext cx="274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Compose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tep-opc + streamlit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99EEF2-C897-40C1-8B0C-0BF08842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48615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1C7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6F5BDD-AC40-4310-82ED-16A2DEDB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1C7E8"/>
            </a:solidFill>
            <a:prstDash val="solid"/>
          </a:ln>
        </p:spPr>
      </p:sp>
      <p:sp>
        <p:nvSpPr>
          <p:cNvPr id="21" name="Wi-Fi">
            <a:extLst xmlns:a="http://schemas.openxmlformats.org/drawingml/2006/main">
              <a:ext uri="{FF2B5EF4-FFF2-40B4-BE49-F238E27FC236}">
                <a16:creationId xmlns:a16="http://schemas.microsoft.com/office/drawing/2014/main" id="{194418CD-AE22-40E5-8181-F575CFF6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019425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Wi-Fi</a:t>
            </a:r>
          </a:p>
        </p:txBody>
      </p:sp>
      <p:sp>
        <p:nvSpPr>
          <p:cNvPr id="22" name="Ethernet">
            <a:extLst xmlns:a="http://schemas.openxmlformats.org/drawingml/2006/main">
              <a:ext uri="{FF2B5EF4-FFF2-40B4-BE49-F238E27FC236}">
                <a16:creationId xmlns:a16="http://schemas.microsoft.com/office/drawing/2014/main" id="{733AC464-C302-41C3-9158-7A12311C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01942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4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4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4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4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4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4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4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4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4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Ethernet</a:t>
            </a:r>
          </a:p>
        </p:txBody>
      </p:sp>
      <p:sp>
        <p:nvSpPr>
          <p:cNvPr id="23" name="4840: OPC UA">
            <a:extLst xmlns:a="http://schemas.openxmlformats.org/drawingml/2006/main">
              <a:ext uri="{FF2B5EF4-FFF2-40B4-BE49-F238E27FC236}">
                <a16:creationId xmlns:a16="http://schemas.microsoft.com/office/drawing/2014/main" id="{45A62701-2398-49E3-9BEC-BB472DF3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4840: OPC UA</a:t>
            </a:r>
          </a:p>
        </p:txBody>
      </p:sp>
      <p:sp>
        <p:nvSpPr>
          <p:cNvPr id="24" name="8501: interface web">
            <a:extLst xmlns:a="http://schemas.openxmlformats.org/drawingml/2006/main">
              <a:ext uri="{FF2B5EF4-FFF2-40B4-BE49-F238E27FC236}">
                <a16:creationId xmlns:a16="http://schemas.microsoft.com/office/drawing/2014/main" id="{1EA0EDF3-3290-4595-8036-4A6E7D8A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18160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8501: interface web</a:t>
            </a:r>
          </a:p>
        </p:txBody>
      </p:sp>
      <p:sp>
        <p:nvSpPr>
          <p:cNvPr id="25" name="22 direto: bloqueado">
            <a:extLst xmlns:a="http://schemas.openxmlformats.org/drawingml/2006/main">
              <a:ext uri="{FF2B5EF4-FFF2-40B4-BE49-F238E27FC236}">
                <a16:creationId xmlns:a16="http://schemas.microsoft.com/office/drawing/2014/main" id="{6CBFE16C-37C4-420B-9F92-F8FF385B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81600"/>
            <a:ext cx="360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22 direto: bloqueado</a:t>
            </a:r>
          </a:p>
        </p:txBody>
      </p:sp>
      <p:sp>
        <p:nvSpPr>
          <p:cNvPr id="26" name="No Pi 4: Streamlit lê opc.tcp://tep-opc:4840/tep/ pela rede ">
            <a:extLst xmlns:a="http://schemas.openxmlformats.org/drawingml/2006/main">
              <a:ext uri="{FF2B5EF4-FFF2-40B4-BE49-F238E27FC236}">
                <a16:creationId xmlns:a16="http://schemas.microsoft.com/office/drawing/2014/main" id="{FFDA37F8-96CA-4E19-BA1D-CAA1BC60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65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65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65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65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65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65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65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65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65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No Pi 4: Streamlit lê opc.tcp://tep-opc:4840/tep/ pela rede Docker</a:t>
            </a:r>
          </a:p>
        </p:txBody>
      </p:sp>
    </p:spTree>
    <p:extLst>
      <p:ext uri="{BB962C8B-B14F-4D97-AF65-F5344CB8AC3E}">
        <p14:creationId xmlns:p14="http://schemas.microsoft.com/office/powerpoint/2010/main" val="2278103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27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F7B59C-20E5-44FD-928F-FD73FF20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1C7E8"/>
            </a:solidFill>
            <a:prstDash val="solid"/>
          </a:ln>
        </p:spPr>
      </p:sp>
      <p:sp>
        <p:nvSpPr>
          <p:cNvPr id="2" name="Industrial Intelligence Lab   /   Aula 3">
            <a:extLst xmlns:a="http://schemas.openxmlformats.org/drawingml/2006/main">
              <a:ext uri="{FF2B5EF4-FFF2-40B4-BE49-F238E27FC236}">
                <a16:creationId xmlns:a16="http://schemas.microsoft.com/office/drawing/2014/main" id="{9C1E276D-7E16-43AC-ACA7-F9AF3BA8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Industrial Intelligence Lab   /   Aula 3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923793E2-ADE0-4BBB-BCB7-02B6AF81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93FB7-B338-42E6-A5F9-020289DD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774"/>
            </a:solidFill>
            <a:prstDash val="solid"/>
          </a:ln>
        </p:spPr>
      </p:sp>
      <p:sp>
        <p:nvSpPr>
          <p:cNvPr id="5" name="Sequência prática">
            <a:extLst xmlns:a="http://schemas.openxmlformats.org/drawingml/2006/main">
              <a:ext uri="{FF2B5EF4-FFF2-40B4-BE49-F238E27FC236}">
                <a16:creationId xmlns:a16="http://schemas.microsoft.com/office/drawing/2014/main" id="{C78FCE27-56C7-4D4F-8EA7-F7641668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Sequência prática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D114FACD-0618-44F9-9AAA-5AF50D80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01</a:t>
            </a:r>
          </a:p>
        </p:txBody>
      </p:sp>
      <p:sp>
        <p:nvSpPr>
          <p:cNvPr id="7" name="Conferir ambiente e preservar o que funciona">
            <a:extLst xmlns:a="http://schemas.openxmlformats.org/drawingml/2006/main">
              <a:ext uri="{FF2B5EF4-FFF2-40B4-BE49-F238E27FC236}">
                <a16:creationId xmlns:a16="http://schemas.microsoft.com/office/drawing/2014/main" id="{2903D1E3-ED3D-4053-8BCC-373C5C96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38350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Conferir ambiente e preservar o que funciona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A2559FE6-351E-45D9-A0F5-AA90FADA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sp>
        <p:nvSpPr>
          <p:cNvPr id="9" name="Subir TEP e OPC UA com Docker Compose">
            <a:extLst xmlns:a="http://schemas.openxmlformats.org/drawingml/2006/main">
              <a:ext uri="{FF2B5EF4-FFF2-40B4-BE49-F238E27FC236}">
                <a16:creationId xmlns:a16="http://schemas.microsoft.com/office/drawing/2014/main" id="{BD35D2D3-15DF-4F1C-BCE8-548F015A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14650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Subir TEP e OPC UA com Docker Compose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48D94952-4204-4C84-99A1-D38CF975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11" name="Ler as mesmas tags na aplicação Streamlit">
            <a:extLst xmlns:a="http://schemas.openxmlformats.org/drawingml/2006/main">
              <a:ext uri="{FF2B5EF4-FFF2-40B4-BE49-F238E27FC236}">
                <a16:creationId xmlns:a16="http://schemas.microsoft.com/office/drawing/2014/main" id="{123D4D47-EC93-493B-A7F3-2B8D3257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90950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Ler as mesmas tags na aplicação Streamlit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7723421B-2AA8-4B6D-8C2D-A979FC9A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  <p:sp>
        <p:nvSpPr>
          <p:cNvPr id="13" name="Liberar TCP 8501 no Pi 3 e testar os limites">
            <a:extLst xmlns:a="http://schemas.openxmlformats.org/drawingml/2006/main">
              <a:ext uri="{FF2B5EF4-FFF2-40B4-BE49-F238E27FC236}">
                <a16:creationId xmlns:a16="http://schemas.microsoft.com/office/drawing/2014/main" id="{FA5579FF-B38A-4A66-BA04-B6E86611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67250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Liberar TCP 8501 no Pi 3 e testar os limites</a:t>
            </a:r>
          </a:p>
        </p:txBody>
      </p:sp>
      <p:sp>
        <p:nvSpPr>
          <p:cNvPr id="14" name="Instalação, downloads e primeiro build ficam no pré-gravação">
            <a:extLst xmlns:a="http://schemas.openxmlformats.org/drawingml/2006/main">
              <a:ext uri="{FF2B5EF4-FFF2-40B4-BE49-F238E27FC236}">
                <a16:creationId xmlns:a16="http://schemas.microsoft.com/office/drawing/2014/main" id="{87F98171-37DF-47F9-822A-02DC99B8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Instalação, downloads e primeiro build ficam no pré-gravação</a:t>
            </a:r>
          </a:p>
        </p:txBody>
      </p:sp>
    </p:spTree>
    <p:extLst>
      <p:ext uri="{BB962C8B-B14F-4D97-AF65-F5344CB8AC3E}">
        <p14:creationId xmlns:p14="http://schemas.microsoft.com/office/powerpoint/2010/main" val="16000734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27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4F11E-6623-4402-8947-76306ED1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1C7E8"/>
            </a:solidFill>
            <a:prstDash val="solid"/>
          </a:ln>
        </p:spPr>
      </p:sp>
      <p:sp>
        <p:nvSpPr>
          <p:cNvPr id="2" name="Industrial Intelligence Lab   /   Aula 3">
            <a:extLst xmlns:a="http://schemas.openxmlformats.org/drawingml/2006/main">
              <a:ext uri="{FF2B5EF4-FFF2-40B4-BE49-F238E27FC236}">
                <a16:creationId xmlns:a16="http://schemas.microsoft.com/office/drawing/2014/main" id="{E49FC951-1C15-49D3-9531-E38C7103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Industrial Intelligence Lab   /   Aula 3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E0755185-9C1A-4636-994E-FDA02A4A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67300-9AE9-4CB6-A7A8-4E7CFFA1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774"/>
            </a:solidFill>
            <a:prstDash val="solid"/>
          </a:ln>
        </p:spPr>
      </p:sp>
      <p:sp>
        <p:nvSpPr>
          <p:cNvPr id="5" name="Preflight do ambiente">
            <a:extLst xmlns:a="http://schemas.openxmlformats.org/drawingml/2006/main">
              <a:ext uri="{FF2B5EF4-FFF2-40B4-BE49-F238E27FC236}">
                <a16:creationId xmlns:a16="http://schemas.microsoft.com/office/drawing/2014/main" id="{15D50C70-E13B-42F7-81BB-B8D55794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Preflight do ambiente</a:t>
            </a:r>
          </a:p>
        </p:txBody>
      </p:sp>
      <p:sp>
        <p:nvSpPr>
          <p:cNvPr id="6" name="POWERSHELL DO NOTEBOOK">
            <a:extLst xmlns:a="http://schemas.openxmlformats.org/drawingml/2006/main">
              <a:ext uri="{FF2B5EF4-FFF2-40B4-BE49-F238E27FC236}">
                <a16:creationId xmlns:a16="http://schemas.microsoft.com/office/drawing/2014/main" id="{8A211555-77C6-4EB3-BC2B-2884541F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POWERSHELL DO NOTEBOOK</a:t>
            </a:r>
          </a:p>
        </p:txBody>
      </p:sp>
      <p:sp>
        <p:nvSpPr>
          <p:cNvPr id="7" name="ssh -J admin@192.168.1.17 devadmin@10.77.0.10">
            <a:extLst xmlns:a="http://schemas.openxmlformats.org/drawingml/2006/main">
              <a:ext uri="{FF2B5EF4-FFF2-40B4-BE49-F238E27FC236}">
                <a16:creationId xmlns:a16="http://schemas.microsoft.com/office/drawing/2014/main" id="{BC85BE74-BA7A-48A4-9158-86C644B8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rPr>
              <a:t>ssh -J admin@192.168.1.17 devadmin@10.77.0.10</a:t>
            </a:r>
          </a:p>
        </p:txBody>
      </p:sp>
      <p:sp>
        <p:nvSpPr>
          <p:cNvPr id="8" name="NO SSH DO PI 4">
            <a:extLst xmlns:a="http://schemas.openxmlformats.org/drawingml/2006/main">
              <a:ext uri="{FF2B5EF4-FFF2-40B4-BE49-F238E27FC236}">
                <a16:creationId xmlns:a16="http://schemas.microsoft.com/office/drawing/2014/main" id="{8FF08BB3-AE5F-4A76-AFD3-DB02401C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NO SSH DO PI 4</a:t>
            </a:r>
          </a:p>
        </p:txBody>
      </p:sp>
      <p:sp>
        <p:nvSpPr>
          <p:cNvPr id="9" name="hostname; uname -m&#10;df -h /&#10;docker version&#10;docker compose ver">
            <a:extLst xmlns:a="http://schemas.openxmlformats.org/drawingml/2006/main">
              <a:ext uri="{FF2B5EF4-FFF2-40B4-BE49-F238E27FC236}">
                <a16:creationId xmlns:a16="http://schemas.microsoft.com/office/drawing/2014/main" id="{853AB0A9-E912-4CEE-89CB-96D298B0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0820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rPr>
              <a:t>hostname; uname -m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rPr>
              <a:t>df -h /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rPr>
              <a:t>docker version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rPr>
              <a:t>docker compose version</a:t>
            </a:r>
          </a:p>
        </p:txBody>
      </p:sp>
      <p:sp>
        <p:nvSpPr>
          <p:cNvPr id="10" name="No Pi 3: conferir o ruleset. No Pi 4: conferir a porta 4840">
            <a:extLst xmlns:a="http://schemas.openxmlformats.org/drawingml/2006/main">
              <a:ext uri="{FF2B5EF4-FFF2-40B4-BE49-F238E27FC236}">
                <a16:creationId xmlns:a16="http://schemas.microsoft.com/office/drawing/2014/main" id="{1842A576-4194-4D37-B813-0E9EEC8D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No Pi 3: conferir o ruleset. No Pi 4: conferir a porta 4840</a:t>
            </a:r>
          </a:p>
        </p:txBody>
      </p:sp>
    </p:spTree>
    <p:extLst>
      <p:ext uri="{BB962C8B-B14F-4D97-AF65-F5344CB8AC3E}">
        <p14:creationId xmlns:p14="http://schemas.microsoft.com/office/powerpoint/2010/main" val="13558005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27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84456-90B6-47F5-958E-2DA24888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1C7E8"/>
            </a:solidFill>
            <a:prstDash val="solid"/>
          </a:ln>
        </p:spPr>
      </p:sp>
      <p:sp>
        <p:nvSpPr>
          <p:cNvPr id="2" name="Industrial Intelligence Lab   /   Aula 3">
            <a:extLst xmlns:a="http://schemas.openxmlformats.org/drawingml/2006/main">
              <a:ext uri="{FF2B5EF4-FFF2-40B4-BE49-F238E27FC236}">
                <a16:creationId xmlns:a16="http://schemas.microsoft.com/office/drawing/2014/main" id="{61471EAD-F75F-4820-9493-EFAAFBE4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Industrial Intelligence Lab   /   Aula 3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DB1198C0-B7C2-46DF-BF2E-2CF1CF64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0BC63-8D11-4A25-BFB8-94AD9951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774"/>
            </a:solidFill>
            <a:prstDash val="solid"/>
          </a:ln>
        </p:spPr>
      </p:sp>
      <p:sp>
        <p:nvSpPr>
          <p:cNvPr id="5" name="Codex 1: inventário sem alterações">
            <a:extLst xmlns:a="http://schemas.openxmlformats.org/drawingml/2006/main">
              <a:ext uri="{FF2B5EF4-FFF2-40B4-BE49-F238E27FC236}">
                <a16:creationId xmlns:a16="http://schemas.microsoft.com/office/drawing/2014/main" id="{9AC09374-54F2-45C9-8210-1D44CF53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Codex 1: inventário sem alterações</a:t>
            </a:r>
          </a:p>
        </p:txBody>
      </p:sp>
      <p:sp>
        <p:nvSpPr>
          <p:cNvPr id="6" name="PROMPT PARA COPIAR">
            <a:extLst xmlns:a="http://schemas.openxmlformats.org/drawingml/2006/main">
              <a:ext uri="{FF2B5EF4-FFF2-40B4-BE49-F238E27FC236}">
                <a16:creationId xmlns:a16="http://schemas.microsoft.com/office/drawing/2014/main" id="{159EA13A-7712-4881-AD27-9D1515D2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PROMPT PARA COPIAR</a:t>
            </a:r>
          </a:p>
        </p:txBody>
      </p:sp>
      <p:sp>
        <p:nvSpPr>
          <p:cNvPr id="7" name="Inspecione as Aulas 1 e 2. Liste o processo TEP/OPC, dependê">
            <a:extLst xmlns:a="http://schemas.openxmlformats.org/drawingml/2006/main">
              <a:ext uri="{FF2B5EF4-FFF2-40B4-BE49-F238E27FC236}">
                <a16:creationId xmlns:a16="http://schemas.microsoft.com/office/drawing/2014/main" id="{2DC0179C-F618-4641-98EE-4D74A09C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8204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Inspecione as Aulas 1 e 2. Liste o processo TEP/OPC, dependências, tags, unidades e portas. Não altere arquivos. Identifique riscos para migrar a execução para Docker.</a:t>
            </a:r>
          </a:p>
        </p:txBody>
      </p:sp>
      <p:sp>
        <p:nvSpPr>
          <p:cNvPr id="8" name="Revisar o inventário antes de pedir qualquer implementação">
            <a:extLst xmlns:a="http://schemas.openxmlformats.org/drawingml/2006/main">
              <a:ext uri="{FF2B5EF4-FFF2-40B4-BE49-F238E27FC236}">
                <a16:creationId xmlns:a16="http://schemas.microsoft.com/office/drawing/2014/main" id="{664DDCA2-CE74-4241-ACBE-3252246D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Revisar o inventário antes de pedir qualquer implementação</a:t>
            </a:r>
          </a:p>
        </p:txBody>
      </p:sp>
    </p:spTree>
    <p:extLst>
      <p:ext uri="{BB962C8B-B14F-4D97-AF65-F5344CB8AC3E}">
        <p14:creationId xmlns:p14="http://schemas.microsoft.com/office/powerpoint/2010/main" val="4234030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27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A4241D-7D5F-4373-8384-FC030F1B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1C7E8"/>
            </a:solidFill>
            <a:prstDash val="solid"/>
          </a:ln>
        </p:spPr>
      </p:sp>
      <p:sp>
        <p:nvSpPr>
          <p:cNvPr id="2" name="Industrial Intelligence Lab   /   Aula 3">
            <a:extLst xmlns:a="http://schemas.openxmlformats.org/drawingml/2006/main">
              <a:ext uri="{FF2B5EF4-FFF2-40B4-BE49-F238E27FC236}">
                <a16:creationId xmlns:a16="http://schemas.microsoft.com/office/drawing/2014/main" id="{FCAF1D67-E994-4CE8-8342-1E97C86A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Industrial Intelligence Lab   /   Aula 3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A33ADF4D-A387-41ED-9107-F9F10907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DF1CD-EB14-4E9A-8575-E25C9F6C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774"/>
            </a:solidFill>
            <a:prstDash val="solid"/>
          </a:ln>
        </p:spPr>
      </p:sp>
      <p:sp>
        <p:nvSpPr>
          <p:cNvPr id="5" name="Dockerfile e estrutura dos serviços">
            <a:extLst xmlns:a="http://schemas.openxmlformats.org/drawingml/2006/main">
              <a:ext uri="{FF2B5EF4-FFF2-40B4-BE49-F238E27FC236}">
                <a16:creationId xmlns:a16="http://schemas.microsoft.com/office/drawing/2014/main" id="{7951DCEE-69D2-4B88-9772-3E29B6EF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Dockerfile e estrutura dos serviços</a:t>
            </a:r>
          </a:p>
        </p:txBody>
      </p:sp>
      <p:sp>
        <p:nvSpPr>
          <p:cNvPr id="6" name="docker/Dockerfile">
            <a:extLst xmlns:a="http://schemas.openxmlformats.org/drawingml/2006/main">
              <a:ext uri="{FF2B5EF4-FFF2-40B4-BE49-F238E27FC236}">
                <a16:creationId xmlns:a16="http://schemas.microsoft.com/office/drawing/2014/main" id="{746C0839-DEF1-443C-914B-9C46356B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docker/Dockerfile</a:t>
            </a:r>
          </a:p>
        </p:txBody>
      </p:sp>
      <p:sp>
        <p:nvSpPr>
          <p:cNvPr id="7" name="Targets server e dashboard">
            <a:extLst xmlns:a="http://schemas.openxmlformats.org/drawingml/2006/main">
              <a:ext uri="{FF2B5EF4-FFF2-40B4-BE49-F238E27FC236}">
                <a16:creationId xmlns:a16="http://schemas.microsoft.com/office/drawing/2014/main" id="{CB4F8571-BF84-4B5C-87B9-C49A9043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38350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Targets server e dashboard</a:t>
            </a:r>
          </a:p>
        </p:txBody>
      </p:sp>
      <p:sp>
        <p:nvSpPr>
          <p:cNvPr id="8" name="docker/compose.yaml">
            <a:extLst xmlns:a="http://schemas.openxmlformats.org/drawingml/2006/main">
              <a:ext uri="{FF2B5EF4-FFF2-40B4-BE49-F238E27FC236}">
                <a16:creationId xmlns:a16="http://schemas.microsoft.com/office/drawing/2014/main" id="{EEB4C80F-F368-4CBE-9C70-3CD52C9A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docker/compose.yaml</a:t>
            </a:r>
          </a:p>
        </p:txBody>
      </p:sp>
      <p:sp>
        <p:nvSpPr>
          <p:cNvPr id="9" name="Rede industrial e portas publicadas no IP do Pi 4">
            <a:extLst xmlns:a="http://schemas.openxmlformats.org/drawingml/2006/main">
              <a:ext uri="{FF2B5EF4-FFF2-40B4-BE49-F238E27FC236}">
                <a16:creationId xmlns:a16="http://schemas.microsoft.com/office/drawing/2014/main" id="{92C49ACA-7406-45C9-B834-228D5AF5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14650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Rede industrial e portas publicadas no IP do Pi 4</a:t>
            </a:r>
          </a:p>
        </p:txBody>
      </p:sp>
      <p:sp>
        <p:nvSpPr>
          <p:cNvPr id="10" name=".env.example">
            <a:extLst xmlns:a="http://schemas.openxmlformats.org/drawingml/2006/main">
              <a:ext uri="{FF2B5EF4-FFF2-40B4-BE49-F238E27FC236}">
                <a16:creationId xmlns:a16="http://schemas.microsoft.com/office/drawing/2014/main" id="{3B6740B3-6A0A-4B4F-9C19-22D015CB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.env.example</a:t>
            </a:r>
          </a:p>
        </p:txBody>
      </p:sp>
      <p:sp>
        <p:nvSpPr>
          <p:cNvPr id="11" name="IP de publicação e endpoint anunciado">
            <a:extLst xmlns:a="http://schemas.openxmlformats.org/drawingml/2006/main">
              <a:ext uri="{FF2B5EF4-FFF2-40B4-BE49-F238E27FC236}">
                <a16:creationId xmlns:a16="http://schemas.microsoft.com/office/drawing/2014/main" id="{63A5CEC2-57CB-4F69-957F-3F447051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90950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IP de publicação e endpoint anunciado</a:t>
            </a:r>
          </a:p>
        </p:txBody>
      </p:sp>
      <p:sp>
        <p:nvSpPr>
          <p:cNvPr id="12" name=".dockerignore">
            <a:extLst xmlns:a="http://schemas.openxmlformats.org/drawingml/2006/main">
              <a:ext uri="{FF2B5EF4-FFF2-40B4-BE49-F238E27FC236}">
                <a16:creationId xmlns:a16="http://schemas.microsoft.com/office/drawing/2014/main" id="{0040C7C7-14A5-4FA7-AB3A-44B51410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.dockerignore</a:t>
            </a:r>
          </a:p>
        </p:txBody>
      </p:sp>
      <p:sp>
        <p:nvSpPr>
          <p:cNvPr id="13" name="Arquivos locais fora do contexto de build">
            <a:extLst xmlns:a="http://schemas.openxmlformats.org/drawingml/2006/main">
              <a:ext uri="{FF2B5EF4-FFF2-40B4-BE49-F238E27FC236}">
                <a16:creationId xmlns:a16="http://schemas.microsoft.com/office/drawing/2014/main" id="{A1615AAD-60FC-44D6-897F-433E0118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67250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Arquivos locais fora do contexto de build</a:t>
            </a:r>
          </a:p>
        </p:txBody>
      </p:sp>
      <p:sp>
        <p:nvSpPr>
          <p:cNvPr id="14" name="Aulas 1 e 2 preservadas. Alterações concentradas na Aula 3">
            <a:extLst xmlns:a="http://schemas.openxmlformats.org/drawingml/2006/main">
              <a:ext uri="{FF2B5EF4-FFF2-40B4-BE49-F238E27FC236}">
                <a16:creationId xmlns:a16="http://schemas.microsoft.com/office/drawing/2014/main" id="{986CC2EB-40A3-4822-B51F-A4EF5992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Aulas 1 e 2 preservadas. Alterações concentradas na Aula 3</a:t>
            </a:r>
          </a:p>
        </p:txBody>
      </p:sp>
    </p:spTree>
    <p:extLst>
      <p:ext uri="{BB962C8B-B14F-4D97-AF65-F5344CB8AC3E}">
        <p14:creationId xmlns:p14="http://schemas.microsoft.com/office/powerpoint/2010/main" val="6914354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27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54792-8161-44D9-B7AD-8114A180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1C7E8"/>
            </a:solidFill>
            <a:prstDash val="solid"/>
          </a:ln>
        </p:spPr>
      </p:sp>
      <p:sp>
        <p:nvSpPr>
          <p:cNvPr id="2" name="Industrial Intelligence Lab   /   Aula 3">
            <a:extLst xmlns:a="http://schemas.openxmlformats.org/drawingml/2006/main">
              <a:ext uri="{FF2B5EF4-FFF2-40B4-BE49-F238E27FC236}">
                <a16:creationId xmlns:a16="http://schemas.microsoft.com/office/drawing/2014/main" id="{53F8E9CC-207D-4DB9-A6F3-D1BCD606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Industrial Intelligence Lab   /   Aula 3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7D96F063-294A-466C-8A79-84D10048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55118-1640-4B71-AF4E-9CC24E1E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774"/>
            </a:solidFill>
            <a:prstDash val="solid"/>
          </a:ln>
        </p:spPr>
      </p:sp>
      <p:sp>
        <p:nvSpPr>
          <p:cNvPr id="5" name="Codex 2 e 3: plano e containerização">
            <a:extLst xmlns:a="http://schemas.openxmlformats.org/drawingml/2006/main">
              <a:ext uri="{FF2B5EF4-FFF2-40B4-BE49-F238E27FC236}">
                <a16:creationId xmlns:a16="http://schemas.microsoft.com/office/drawing/2014/main" id="{F7D6DEFF-7430-4E86-85FC-27373BBE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Codex 2 e 3: plano e containerização</a:t>
            </a:r>
          </a:p>
        </p:txBody>
      </p:sp>
      <p:sp>
        <p:nvSpPr>
          <p:cNvPr id="6" name="PROMPT PARA COPIAR">
            <a:extLst xmlns:a="http://schemas.openxmlformats.org/drawingml/2006/main">
              <a:ext uri="{FF2B5EF4-FFF2-40B4-BE49-F238E27FC236}">
                <a16:creationId xmlns:a16="http://schemas.microsoft.com/office/drawing/2014/main" id="{B096FD6C-6228-433E-B17C-EF6737D6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PROMPT PARA COPIAR</a:t>
            </a:r>
          </a:p>
        </p:txBody>
      </p:sp>
      <p:sp>
        <p:nvSpPr>
          <p:cNvPr id="7" name="Planeje dois serviços: tep-opc e streamlit. Preserve o TEP e">
            <a:extLst xmlns:a="http://schemas.openxmlformats.org/drawingml/2006/main">
              <a:ext uri="{FF2B5EF4-FFF2-40B4-BE49-F238E27FC236}">
                <a16:creationId xmlns:a16="http://schemas.microsoft.com/office/drawing/2014/main" id="{63F23590-4599-4FE2-BD13-98589564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Planeje dois serviços: tep-opc e streamlit. Preserve o TEP e as tags existentes. Explique rede, portas e mudanças mínimas antes de editar.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D8A86-DA15-4586-A67F-33EB0139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774"/>
            </a:solidFill>
            <a:prstDash val="solid"/>
          </a:ln>
        </p:spPr>
      </p:sp>
      <p:sp>
        <p:nvSpPr>
          <p:cNvPr id="9" name="Implemente Dockerfile e Compose conforme o plano aprovado. U">
            <a:extLst xmlns:a="http://schemas.openxmlformats.org/drawingml/2006/main">
              <a:ext uri="{FF2B5EF4-FFF2-40B4-BE49-F238E27FC236}">
                <a16:creationId xmlns:a16="http://schemas.microsoft.com/office/drawing/2014/main" id="{9A49BBD4-A678-4ABB-9F86-AF718A61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Implemente Dockerfile e Compose conforme o plano aprovado. Use .env.example, logs limitados e healthchecks. Valide o que puder e informe o que não executou.</a:t>
            </a:r>
          </a:p>
        </p:txBody>
      </p:sp>
      <p:sp>
        <p:nvSpPr>
          <p:cNvPr id="10" name="Uma tarefa por vez. Conferir o diff antes do build">
            <a:extLst xmlns:a="http://schemas.openxmlformats.org/drawingml/2006/main">
              <a:ext uri="{FF2B5EF4-FFF2-40B4-BE49-F238E27FC236}">
                <a16:creationId xmlns:a16="http://schemas.microsoft.com/office/drawing/2014/main" id="{B213C535-A819-40CF-938D-31C398B4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Uma tarefa por vez. Conferir o diff antes do build</a:t>
            </a:r>
          </a:p>
        </p:txBody>
      </p:sp>
    </p:spTree>
    <p:extLst>
      <p:ext uri="{BB962C8B-B14F-4D97-AF65-F5344CB8AC3E}">
        <p14:creationId xmlns:p14="http://schemas.microsoft.com/office/powerpoint/2010/main" val="8940902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27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E402A-AF06-4D1B-94F4-D1067A91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1C7E8"/>
            </a:solidFill>
            <a:prstDash val="solid"/>
          </a:ln>
        </p:spPr>
      </p:sp>
      <p:sp>
        <p:nvSpPr>
          <p:cNvPr id="2" name="Industrial Intelligence Lab   /   Aula 3">
            <a:extLst xmlns:a="http://schemas.openxmlformats.org/drawingml/2006/main">
              <a:ext uri="{FF2B5EF4-FFF2-40B4-BE49-F238E27FC236}">
                <a16:creationId xmlns:a16="http://schemas.microsoft.com/office/drawing/2014/main" id="{4E509592-1578-4665-97A5-7E28E922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Industrial Intelligence Lab   /   Aula 3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3D4565CA-FD0E-48C3-BF9F-4782CE4B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EE484-1ECA-463D-87E8-698818D4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774"/>
            </a:solidFill>
            <a:prstDash val="solid"/>
          </a:ln>
        </p:spPr>
      </p:sp>
      <p:sp>
        <p:nvSpPr>
          <p:cNvPr id="5" name="Compose: validar, subir e observar">
            <a:extLst xmlns:a="http://schemas.openxmlformats.org/drawingml/2006/main">
              <a:ext uri="{FF2B5EF4-FFF2-40B4-BE49-F238E27FC236}">
                <a16:creationId xmlns:a16="http://schemas.microsoft.com/office/drawing/2014/main" id="{53DB3A3C-B7C5-43FF-947C-DF3C7C0E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Compose: validar, subir e observar</a:t>
            </a:r>
          </a:p>
        </p:txBody>
      </p:sp>
      <p:sp>
        <p:nvSpPr>
          <p:cNvPr id="6" name="BASH NO PI 4, DENTRO DA PASTA DA AULA 3">
            <a:extLst xmlns:a="http://schemas.openxmlformats.org/drawingml/2006/main">
              <a:ext uri="{FF2B5EF4-FFF2-40B4-BE49-F238E27FC236}">
                <a16:creationId xmlns:a16="http://schemas.microsoft.com/office/drawing/2014/main" id="{0F1143A1-51CD-49FE-A0DF-B33E8543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BASH NO PI 4, DENTRO DA PASTA DA AULA 3</a:t>
            </a:r>
          </a:p>
        </p:txBody>
      </p:sp>
      <p:sp>
        <p:nvSpPr>
          <p:cNvPr id="7" name="dc() {&#10;  docker compose --env-file .env -f docker/compose.ya">
            <a:extLst xmlns:a="http://schemas.openxmlformats.org/drawingml/2006/main">
              <a:ext uri="{FF2B5EF4-FFF2-40B4-BE49-F238E27FC236}">
                <a16:creationId xmlns:a16="http://schemas.microsoft.com/office/drawing/2014/main" id="{791AD439-FE06-4CAF-AE3F-9C8FC0A5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108204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rPr>
              <a:t>dc() {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rPr>
              <a:t>  docker compose --env-file .env -f docker/compose.yaml "$@"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rPr>
              <a:t>dc config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rPr>
              <a:t>dc build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rPr>
              <a:t>dc up -d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rPr>
              <a:t>dc ps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rPr>
              <a:t>dc logs -f --tail=50</a:t>
            </a:r>
          </a:p>
        </p:txBody>
      </p:sp>
      <p:sp>
        <p:nvSpPr>
          <p:cNvPr id="8" name="Antes: criar e conferir .env. Ctrl+C encerra apenas a leitur">
            <a:extLst xmlns:a="http://schemas.openxmlformats.org/drawingml/2006/main">
              <a:ext uri="{FF2B5EF4-FFF2-40B4-BE49-F238E27FC236}">
                <a16:creationId xmlns:a16="http://schemas.microsoft.com/office/drawing/2014/main" id="{7D17D091-2BAA-49D1-BE08-505D3C40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Antes: criar e conferir .env. Ctrl+C encerra apenas a leitura dos logs</a:t>
            </a:r>
          </a:p>
        </p:txBody>
      </p:sp>
    </p:spTree>
    <p:extLst>
      <p:ext uri="{BB962C8B-B14F-4D97-AF65-F5344CB8AC3E}">
        <p14:creationId xmlns:p14="http://schemas.microsoft.com/office/powerpoint/2010/main" val="14882520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27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C7E83-CF6E-47D7-9C2E-9783FD00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1C7E8"/>
            </a:solidFill>
            <a:prstDash val="solid"/>
          </a:ln>
        </p:spPr>
      </p:sp>
      <p:sp>
        <p:nvSpPr>
          <p:cNvPr id="2" name="Industrial Intelligence Lab   /   Aula 3">
            <a:extLst xmlns:a="http://schemas.openxmlformats.org/drawingml/2006/main">
              <a:ext uri="{FF2B5EF4-FFF2-40B4-BE49-F238E27FC236}">
                <a16:creationId xmlns:a16="http://schemas.microsoft.com/office/drawing/2014/main" id="{C16F29EF-6B9B-48A4-B572-F289AF8F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Industrial Intelligence Lab   /   Aula 3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5877AAE0-4C59-4CF4-8ABD-9E705E38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85372-FF82-4195-8DC0-6D0E314A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774"/>
            </a:solidFill>
            <a:prstDash val="solid"/>
          </a:ln>
        </p:spPr>
      </p:sp>
      <p:sp>
        <p:nvSpPr>
          <p:cNvPr id="5" name="Codex 4 e 5: leitura e interface">
            <a:extLst xmlns:a="http://schemas.openxmlformats.org/drawingml/2006/main">
              <a:ext uri="{FF2B5EF4-FFF2-40B4-BE49-F238E27FC236}">
                <a16:creationId xmlns:a16="http://schemas.microsoft.com/office/drawing/2014/main" id="{2B183793-E892-406E-8B39-B2BBF6C1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Codex 4 e 5: leitura e interface</a:t>
            </a:r>
          </a:p>
        </p:txBody>
      </p:sp>
      <p:sp>
        <p:nvSpPr>
          <p:cNvPr id="6" name="PROMPT PARA COPIAR">
            <a:extLst xmlns:a="http://schemas.openxmlformats.org/drawingml/2006/main">
              <a:ext uri="{FF2B5EF4-FFF2-40B4-BE49-F238E27FC236}">
                <a16:creationId xmlns:a16="http://schemas.microsoft.com/office/drawing/2014/main" id="{0A97F7E0-82EF-4F71-AC21-FF7F2A81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PROMPT PARA COPIAR</a:t>
            </a:r>
          </a:p>
        </p:txBody>
      </p:sp>
      <p:sp>
        <p:nvSpPr>
          <p:cNvPr id="7" name="Implemente um cliente OPC UA que descubra o namespace e as t">
            <a:extLst xmlns:a="http://schemas.openxmlformats.org/drawingml/2006/main">
              <a:ext uri="{FF2B5EF4-FFF2-40B4-BE49-F238E27FC236}">
                <a16:creationId xmlns:a16="http://schemas.microsoft.com/office/drawing/2014/main" id="{5AACFAB7-5FC9-40D8-9037-AE0F01C7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Implemente um cliente OPC UA que descubra o namespace e as tags por BrowseName. Leia valor, unidade, qualidade e SourceTimestamp. Trate falhas e reconexão.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8FE54-B3E3-40F2-8AB4-E91BD965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774"/>
            </a:solidFill>
            <a:prstDash val="solid"/>
          </a:ln>
        </p:spPr>
      </p:sp>
      <p:sp>
        <p:nvSpPr>
          <p:cNvPr id="9" name="Crie uma interface Streamlit somente leitura: conexão, valor">
            <a:extLst xmlns:a="http://schemas.openxmlformats.org/drawingml/2006/main">
              <a:ext uri="{FF2B5EF4-FFF2-40B4-BE49-F238E27FC236}">
                <a16:creationId xmlns:a16="http://schemas.microsoft.com/office/drawing/2014/main" id="{AE22B9E2-A7EC-45A3-BACC-79F08792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Crie uma interface Streamlit somente leitura: conexão, valores, timestamps e tendências recentes limitadas. Exiba falhas sem simular dados silenciosamente.</a:t>
            </a:r>
          </a:p>
        </p:txBody>
      </p:sp>
      <p:sp>
        <p:nvSpPr>
          <p:cNvPr id="10" name="Endpoint interno: opc.tcp://tep-opc:4840/tep/">
            <a:extLst xmlns:a="http://schemas.openxmlformats.org/drawingml/2006/main">
              <a:ext uri="{FF2B5EF4-FFF2-40B4-BE49-F238E27FC236}">
                <a16:creationId xmlns:a16="http://schemas.microsoft.com/office/drawing/2014/main" id="{F893C1F7-8F58-4331-9FB2-25E816D9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Endpoint interno: opc.tcp://tep-opc:4840/tep/</a:t>
            </a:r>
          </a:p>
        </p:txBody>
      </p:sp>
    </p:spTree>
    <p:extLst>
      <p:ext uri="{BB962C8B-B14F-4D97-AF65-F5344CB8AC3E}">
        <p14:creationId xmlns:p14="http://schemas.microsoft.com/office/powerpoint/2010/main" val="5010897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27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559893-2EDA-4A27-9683-324F0D51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1C7E8"/>
            </a:solidFill>
            <a:prstDash val="solid"/>
          </a:ln>
        </p:spPr>
      </p:sp>
      <p:sp>
        <p:nvSpPr>
          <p:cNvPr id="2" name="Industrial Intelligence Lab   /   Aula 3">
            <a:extLst xmlns:a="http://schemas.openxmlformats.org/drawingml/2006/main">
              <a:ext uri="{FF2B5EF4-FFF2-40B4-BE49-F238E27FC236}">
                <a16:creationId xmlns:a16="http://schemas.microsoft.com/office/drawing/2014/main" id="{D86E9E42-8426-4B7C-A1C3-5E3C8530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Industrial Intelligence Lab   /   Aula 3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3A05CFD2-093C-47E9-9060-37CCDDAF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4CB96-44ED-4F44-AEC1-C8DB7A3F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774"/>
            </a:solidFill>
            <a:prstDash val="solid"/>
          </a:ln>
        </p:spPr>
      </p:sp>
      <p:sp>
        <p:nvSpPr>
          <p:cNvPr id="5" name="Primeira interface de supervisão">
            <a:extLst xmlns:a="http://schemas.openxmlformats.org/drawingml/2006/main">
              <a:ext uri="{FF2B5EF4-FFF2-40B4-BE49-F238E27FC236}">
                <a16:creationId xmlns:a16="http://schemas.microsoft.com/office/drawing/2014/main" id="{1194F0EB-4B7E-4AED-9664-FB736AC7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Primeira interface de supervisão</a:t>
            </a:r>
          </a:p>
        </p:txBody>
      </p:sp>
      <p:sp>
        <p:nvSpPr>
          <p:cNvPr id="6" name="Qualidade">
            <a:extLst xmlns:a="http://schemas.openxmlformats.org/drawingml/2006/main">
              <a:ext uri="{FF2B5EF4-FFF2-40B4-BE49-F238E27FC236}">
                <a16:creationId xmlns:a16="http://schemas.microsoft.com/office/drawing/2014/main" id="{8C4C3311-925A-4B48-A190-E64A4BDA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Qualidade</a:t>
            </a:r>
          </a:p>
        </p:txBody>
      </p:sp>
      <p:sp>
        <p:nvSpPr>
          <p:cNvPr id="7" name="Conectado, Good e leitura atual">
            <a:extLst xmlns:a="http://schemas.openxmlformats.org/drawingml/2006/main">
              <a:ext uri="{FF2B5EF4-FFF2-40B4-BE49-F238E27FC236}">
                <a16:creationId xmlns:a16="http://schemas.microsoft.com/office/drawing/2014/main" id="{6C252CFC-766C-483F-8047-F3C85D2F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38350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Conectado, Good e leitura atual</a:t>
            </a:r>
          </a:p>
        </p:txBody>
      </p:sp>
      <p:sp>
        <p:nvSpPr>
          <p:cNvPr id="8" name="Variáveis">
            <a:extLst xmlns:a="http://schemas.openxmlformats.org/drawingml/2006/main">
              <a:ext uri="{FF2B5EF4-FFF2-40B4-BE49-F238E27FC236}">
                <a16:creationId xmlns:a16="http://schemas.microsoft.com/office/drawing/2014/main" id="{946990D4-9C5F-48A9-9AC7-09A191C9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Variáveis</a:t>
            </a:r>
          </a:p>
        </p:txBody>
      </p:sp>
      <p:sp>
        <p:nvSpPr>
          <p:cNvPr id="9" name="Pressão, nível e temperatura com unidades">
            <a:extLst xmlns:a="http://schemas.openxmlformats.org/drawingml/2006/main">
              <a:ext uri="{FF2B5EF4-FFF2-40B4-BE49-F238E27FC236}">
                <a16:creationId xmlns:a16="http://schemas.microsoft.com/office/drawing/2014/main" id="{03BE8797-5011-4AFA-ACE0-AF7E0040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52775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Pressão, nível e temperatura com unidades</a:t>
            </a:r>
          </a:p>
        </p:txBody>
      </p:sp>
      <p:sp>
        <p:nvSpPr>
          <p:cNvPr id="10" name="Tempo">
            <a:extLst xmlns:a="http://schemas.openxmlformats.org/drawingml/2006/main">
              <a:ext uri="{FF2B5EF4-FFF2-40B4-BE49-F238E27FC236}">
                <a16:creationId xmlns:a16="http://schemas.microsoft.com/office/drawing/2014/main" id="{2E8092B6-9F5D-47DC-B331-8B6C6A84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Tempo</a:t>
            </a:r>
          </a:p>
        </p:txBody>
      </p:sp>
      <p:sp>
        <p:nvSpPr>
          <p:cNvPr id="11" name="SourceTimestamp em UTC e tendências recentes">
            <a:extLst xmlns:a="http://schemas.openxmlformats.org/drawingml/2006/main">
              <a:ext uri="{FF2B5EF4-FFF2-40B4-BE49-F238E27FC236}">
                <a16:creationId xmlns:a16="http://schemas.microsoft.com/office/drawing/2014/main" id="{C4D0CAF6-D673-4523-87F6-0DDFFE15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67200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SourceTimestamp em UTC e tendências recentes</a:t>
            </a:r>
          </a:p>
        </p:txBody>
      </p:sp>
      <p:sp>
        <p:nvSpPr>
          <p:cNvPr id="12" name="Tendências em memória: até 600 amostras. Sem historiador">
            <a:extLst xmlns:a="http://schemas.openxmlformats.org/drawingml/2006/main">
              <a:ext uri="{FF2B5EF4-FFF2-40B4-BE49-F238E27FC236}">
                <a16:creationId xmlns:a16="http://schemas.microsoft.com/office/drawing/2014/main" id="{DFF633D4-7990-4A71-822C-0D6B07E7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Tendências em memória: até 600 amostras. Sem historiador</a:t>
            </a:r>
          </a:p>
        </p:txBody>
      </p:sp>
    </p:spTree>
    <p:extLst>
      <p:ext uri="{BB962C8B-B14F-4D97-AF65-F5344CB8AC3E}">
        <p14:creationId xmlns:p14="http://schemas.microsoft.com/office/powerpoint/2010/main" val="19316714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27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8CB98D-6F80-4383-9C1D-1606FCF8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1C7E8"/>
            </a:solidFill>
            <a:prstDash val="solid"/>
          </a:ln>
        </p:spPr>
      </p:sp>
      <p:sp>
        <p:nvSpPr>
          <p:cNvPr id="2" name="Industrial Intelligence Lab   /   Aula 3">
            <a:extLst xmlns:a="http://schemas.openxmlformats.org/drawingml/2006/main">
              <a:ext uri="{FF2B5EF4-FFF2-40B4-BE49-F238E27FC236}">
                <a16:creationId xmlns:a16="http://schemas.microsoft.com/office/drawing/2014/main" id="{70E65331-72FB-4D7C-A06A-4F9D2277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Industrial Intelligence Lab   /   Aula 3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288E39FF-3441-47A3-9028-339C401D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48409-4A34-4908-80F9-A081AE06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774"/>
            </a:solidFill>
            <a:prstDash val="solid"/>
          </a:ln>
        </p:spPr>
      </p:sp>
      <p:sp>
        <p:nvSpPr>
          <p:cNvPr id="5" name="Por que o navegador ainda não abre?">
            <a:extLst xmlns:a="http://schemas.openxmlformats.org/drawingml/2006/main">
              <a:ext uri="{FF2B5EF4-FFF2-40B4-BE49-F238E27FC236}">
                <a16:creationId xmlns:a16="http://schemas.microsoft.com/office/drawing/2014/main" id="{3D7D40ED-07BA-4D2E-B5E0-8C99726A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Por que o navegador ainda não abre?</a:t>
            </a:r>
          </a:p>
        </p:txBody>
      </p:sp>
      <p:sp>
        <p:nvSpPr>
          <p:cNvPr id="6" name="POWERSHELL DO NOTEBOOK">
            <a:extLst xmlns:a="http://schemas.openxmlformats.org/drawingml/2006/main">
              <a:ext uri="{FF2B5EF4-FFF2-40B4-BE49-F238E27FC236}">
                <a16:creationId xmlns:a16="http://schemas.microsoft.com/office/drawing/2014/main" id="{4480E529-B815-4723-A770-1171A13C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POWERSHELL DO NOTEBOOK</a:t>
            </a:r>
          </a:p>
        </p:txBody>
      </p:sp>
      <p:sp>
        <p:nvSpPr>
          <p:cNvPr id="7" name="Test-NetConnection 10.77.0.10 -Port 8501">
            <a:extLst xmlns:a="http://schemas.openxmlformats.org/drawingml/2006/main">
              <a:ext uri="{FF2B5EF4-FFF2-40B4-BE49-F238E27FC236}">
                <a16:creationId xmlns:a16="http://schemas.microsoft.com/office/drawing/2014/main" id="{F5711E9E-7686-485C-AF72-C206D482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rPr>
              <a:t>Test-NetConnection 10.77.0.10 -Port 8501</a:t>
            </a:r>
          </a:p>
        </p:txBody>
      </p:sp>
      <p:sp>
        <p:nvSpPr>
          <p:cNvPr id="8" name="VERIFICAÇÕES SEPARADAS">
            <a:extLst xmlns:a="http://schemas.openxmlformats.org/drawingml/2006/main">
              <a:ext uri="{FF2B5EF4-FFF2-40B4-BE49-F238E27FC236}">
                <a16:creationId xmlns:a16="http://schemas.microsoft.com/office/drawing/2014/main" id="{7A7CA5F2-0836-4373-A3F2-E52432A1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VERIFICAÇÕES SEPARADAS</a:t>
            </a:r>
          </a:p>
        </p:txBody>
      </p:sp>
      <p:sp>
        <p:nvSpPr>
          <p:cNvPr id="9" name="Pi 4: serviço e porta publicada&#10;Pi 3: roteamento e regra de ">
            <a:extLst xmlns:a="http://schemas.openxmlformats.org/drawingml/2006/main">
              <a:ext uri="{FF2B5EF4-FFF2-40B4-BE49-F238E27FC236}">
                <a16:creationId xmlns:a16="http://schemas.microsoft.com/office/drawing/2014/main" id="{C25C77B9-D4BD-4EE1-BEAF-18A2E4CD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0820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Pi 4: serviço e porta publicada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Pi 3: roteamento e regra de encaminhamento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Notebook: rota para 10.77.0.0/24</a:t>
            </a:r>
          </a:p>
        </p:txBody>
      </p:sp>
      <p:sp>
        <p:nvSpPr>
          <p:cNvPr id="10" name="TCP 8501 deve falhar antes da regra. A aplicação precisa est">
            <a:extLst xmlns:a="http://schemas.openxmlformats.org/drawingml/2006/main">
              <a:ext uri="{FF2B5EF4-FFF2-40B4-BE49-F238E27FC236}">
                <a16:creationId xmlns:a16="http://schemas.microsoft.com/office/drawing/2014/main" id="{E4BEF982-D703-4578-B5EE-D86B0A17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TCP 8501 deve falhar antes da regra. A aplicação precisa estar saudável</a:t>
            </a:r>
          </a:p>
        </p:txBody>
      </p:sp>
    </p:spTree>
    <p:extLst>
      <p:ext uri="{BB962C8B-B14F-4D97-AF65-F5344CB8AC3E}">
        <p14:creationId xmlns:p14="http://schemas.microsoft.com/office/powerpoint/2010/main" val="10543758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27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0B494C-1BB3-4E94-9AF2-DEAC817D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1C7E8"/>
            </a:solidFill>
            <a:prstDash val="solid"/>
          </a:ln>
        </p:spPr>
      </p:sp>
      <p:sp>
        <p:nvSpPr>
          <p:cNvPr id="2" name="Industrial Intelligence Lab   /   Aula 3">
            <a:extLst xmlns:a="http://schemas.openxmlformats.org/drawingml/2006/main">
              <a:ext uri="{FF2B5EF4-FFF2-40B4-BE49-F238E27FC236}">
                <a16:creationId xmlns:a16="http://schemas.microsoft.com/office/drawing/2014/main" id="{364C96E0-74F0-487C-B912-A4797F64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Industrial Intelligence Lab   /   Aula 3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700D4CB8-A342-4FF6-B254-2F425DC4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FE6EC-6FB0-4896-9310-B90B51F7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774"/>
            </a:solidFill>
            <a:prstDash val="solid"/>
          </a:ln>
        </p:spPr>
      </p:sp>
      <p:sp>
        <p:nvSpPr>
          <p:cNvPr id="5" name="Liberação restrita no Pi 3">
            <a:extLst xmlns:a="http://schemas.openxmlformats.org/drawingml/2006/main">
              <a:ext uri="{FF2B5EF4-FFF2-40B4-BE49-F238E27FC236}">
                <a16:creationId xmlns:a16="http://schemas.microsoft.com/office/drawing/2014/main" id="{00EADB68-5BB5-494D-850D-53410361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Liberação restrita no Pi 3</a:t>
            </a:r>
          </a:p>
        </p:txBody>
      </p:sp>
      <p:sp>
        <p:nvSpPr>
          <p:cNvPr id="6" name="Antes">
            <a:extLst xmlns:a="http://schemas.openxmlformats.org/drawingml/2006/main">
              <a:ext uri="{FF2B5EF4-FFF2-40B4-BE49-F238E27FC236}">
                <a16:creationId xmlns:a16="http://schemas.microsoft.com/office/drawing/2014/main" id="{F3E8AA87-985A-4D89-8E7F-9EA66648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Antes</a:t>
            </a:r>
          </a:p>
        </p:txBody>
      </p:sp>
      <p:sp>
        <p:nvSpPr>
          <p:cNvPr id="7" name="Inspecionar cadeia e registrar backup">
            <a:extLst xmlns:a="http://schemas.openxmlformats.org/drawingml/2006/main">
              <a:ext uri="{FF2B5EF4-FFF2-40B4-BE49-F238E27FC236}">
                <a16:creationId xmlns:a16="http://schemas.microsoft.com/office/drawing/2014/main" id="{0F51E7EE-5ED2-4E41-B306-0C85052C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38350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Inspecionar cadeia e registrar backup</a:t>
            </a:r>
          </a:p>
        </p:txBody>
      </p:sp>
      <p:sp>
        <p:nvSpPr>
          <p:cNvPr id="8" name="Regra">
            <a:extLst xmlns:a="http://schemas.openxmlformats.org/drawingml/2006/main">
              <a:ext uri="{FF2B5EF4-FFF2-40B4-BE49-F238E27FC236}">
                <a16:creationId xmlns:a16="http://schemas.microsoft.com/office/drawing/2014/main" id="{608665BE-A4C8-4FE2-BED4-7E8FB4C5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Regra</a:t>
            </a:r>
          </a:p>
        </p:txBody>
      </p:sp>
      <p:sp>
        <p:nvSpPr>
          <p:cNvPr id="9" name="Notebook autorizado para Pi 4, TCP 8501">
            <a:extLst xmlns:a="http://schemas.openxmlformats.org/drawingml/2006/main">
              <a:ext uri="{FF2B5EF4-FFF2-40B4-BE49-F238E27FC236}">
                <a16:creationId xmlns:a16="http://schemas.microsoft.com/office/drawing/2014/main" id="{BAD8AB8E-9102-4C08-A381-56594545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14650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Notebook autorizado para Pi 4, TCP 8501</a:t>
            </a:r>
          </a:p>
        </p:txBody>
      </p:sp>
      <p:sp>
        <p:nvSpPr>
          <p:cNvPr id="10" name="Posição">
            <a:extLst xmlns:a="http://schemas.openxmlformats.org/drawingml/2006/main">
              <a:ext uri="{FF2B5EF4-FFF2-40B4-BE49-F238E27FC236}">
                <a16:creationId xmlns:a16="http://schemas.microsoft.com/office/drawing/2014/main" id="{20428115-BEB8-4CDF-9778-23ACA9E2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Posição</a:t>
            </a:r>
          </a:p>
        </p:txBody>
      </p:sp>
      <p:sp>
        <p:nvSpPr>
          <p:cNvPr id="11" name="Antes do descarte que bloquearia esse tráfego">
            <a:extLst xmlns:a="http://schemas.openxmlformats.org/drawingml/2006/main">
              <a:ext uri="{FF2B5EF4-FFF2-40B4-BE49-F238E27FC236}">
                <a16:creationId xmlns:a16="http://schemas.microsoft.com/office/drawing/2014/main" id="{E045F954-B6C4-4FFD-9500-12BCA377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90950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Antes do descarte que bloquearia esse tráfego</a:t>
            </a:r>
          </a:p>
        </p:txBody>
      </p:sp>
      <p:sp>
        <p:nvSpPr>
          <p:cNvPr id="12" name="Depois">
            <a:extLst xmlns:a="http://schemas.openxmlformats.org/drawingml/2006/main">
              <a:ext uri="{FF2B5EF4-FFF2-40B4-BE49-F238E27FC236}">
                <a16:creationId xmlns:a16="http://schemas.microsoft.com/office/drawing/2014/main" id="{A98175FF-6ECE-47C2-8CCC-58EB1055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Depois</a:t>
            </a:r>
          </a:p>
        </p:txBody>
      </p:sp>
      <p:sp>
        <p:nvSpPr>
          <p:cNvPr id="13" name="Contador, captura e teste de nova conexão">
            <a:extLst xmlns:a="http://schemas.openxmlformats.org/drawingml/2006/main">
              <a:ext uri="{FF2B5EF4-FFF2-40B4-BE49-F238E27FC236}">
                <a16:creationId xmlns:a16="http://schemas.microsoft.com/office/drawing/2014/main" id="{D700992D-87A9-4888-9107-86A9B9CD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67250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Contador, captura e teste de nova conexão</a:t>
            </a:r>
          </a:p>
        </p:txBody>
      </p:sp>
      <p:sp>
        <p:nvSpPr>
          <p:cNvPr id="14" name="Procedimento copiável: rede/firewall_8501.md">
            <a:extLst xmlns:a="http://schemas.openxmlformats.org/drawingml/2006/main">
              <a:ext uri="{FF2B5EF4-FFF2-40B4-BE49-F238E27FC236}">
                <a16:creationId xmlns:a16="http://schemas.microsoft.com/office/drawing/2014/main" id="{1AE4B2E8-60C8-4DC0-8A6A-A588F9B0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Procedimento copiável: rede/firewall_8501.md</a:t>
            </a:r>
          </a:p>
        </p:txBody>
      </p:sp>
    </p:spTree>
    <p:extLst>
      <p:ext uri="{BB962C8B-B14F-4D97-AF65-F5344CB8AC3E}">
        <p14:creationId xmlns:p14="http://schemas.microsoft.com/office/powerpoint/2010/main" val="3242088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27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F6A5F-2119-43B9-B562-2B1F03EF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1C7E8"/>
            </a:solidFill>
            <a:prstDash val="solid"/>
          </a:ln>
        </p:spPr>
      </p:sp>
      <p:sp>
        <p:nvSpPr>
          <p:cNvPr id="2" name="Industrial Intelligence Lab   /   Aula 3">
            <a:extLst xmlns:a="http://schemas.openxmlformats.org/drawingml/2006/main">
              <a:ext uri="{FF2B5EF4-FFF2-40B4-BE49-F238E27FC236}">
                <a16:creationId xmlns:a16="http://schemas.microsoft.com/office/drawing/2014/main" id="{91C7F793-3461-4107-984D-259220A7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Industrial Intelligence Lab   /   Aula 3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A1635B50-7692-490A-94C3-127B1C2A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80383-BB15-489F-A30B-9B1E15C4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774"/>
            </a:solidFill>
            <a:prstDash val="solid"/>
          </a:ln>
        </p:spPr>
      </p:sp>
      <p:sp>
        <p:nvSpPr>
          <p:cNvPr id="5" name="Validação do acesso">
            <a:extLst xmlns:a="http://schemas.openxmlformats.org/drawingml/2006/main">
              <a:ext uri="{FF2B5EF4-FFF2-40B4-BE49-F238E27FC236}">
                <a16:creationId xmlns:a16="http://schemas.microsoft.com/office/drawing/2014/main" id="{4C3C71D2-33BE-464B-AFF5-F9BD1142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Validação do acesso</a:t>
            </a:r>
          </a:p>
        </p:txBody>
      </p:sp>
      <p:sp>
        <p:nvSpPr>
          <p:cNvPr id="6" name="POWERSHELL DO NOTEBOOK">
            <a:extLst xmlns:a="http://schemas.openxmlformats.org/drawingml/2006/main">
              <a:ext uri="{FF2B5EF4-FFF2-40B4-BE49-F238E27FC236}">
                <a16:creationId xmlns:a16="http://schemas.microsoft.com/office/drawing/2014/main" id="{92CC98A8-CAB3-4A2C-BC31-CC27DF13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POWERSHELL DO NOTEBOOK</a:t>
            </a:r>
          </a:p>
        </p:txBody>
      </p:sp>
      <p:sp>
        <p:nvSpPr>
          <p:cNvPr id="7" name="Test-NetConnection 10.77.0.10 -Port 8501&#10;Test-NetConnection ">
            <a:extLst xmlns:a="http://schemas.openxmlformats.org/drawingml/2006/main">
              <a:ext uri="{FF2B5EF4-FFF2-40B4-BE49-F238E27FC236}">
                <a16:creationId xmlns:a16="http://schemas.microsoft.com/office/drawing/2014/main" id="{A64EB451-7F5D-4EF2-8326-EE266173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rPr>
              <a:t>Test-NetConnection 10.77.0.10 -Port 8501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rPr>
              <a:t>Test-NetConnection 10.77.0.10 -Port 4840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rPr>
              <a:t>Test-NetConnection 10.77.0.10 -Port 22</a:t>
            </a:r>
          </a:p>
        </p:txBody>
      </p:sp>
      <p:sp>
        <p:nvSpPr>
          <p:cNvPr id="8" name="NAVEGADOR">
            <a:extLst xmlns:a="http://schemas.openxmlformats.org/drawingml/2006/main">
              <a:ext uri="{FF2B5EF4-FFF2-40B4-BE49-F238E27FC236}">
                <a16:creationId xmlns:a16="http://schemas.microsoft.com/office/drawing/2014/main" id="{01AD3C02-BF50-444B-8C71-6EBBD6A0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NAVEGADOR</a:t>
            </a:r>
          </a:p>
        </p:txBody>
      </p:sp>
      <p:sp>
        <p:nvSpPr>
          <p:cNvPr id="9" name="http://10.77.0.10:8501">
            <a:extLst xmlns:a="http://schemas.openxmlformats.org/drawingml/2006/main">
              <a:ext uri="{FF2B5EF4-FFF2-40B4-BE49-F238E27FC236}">
                <a16:creationId xmlns:a16="http://schemas.microsoft.com/office/drawing/2014/main" id="{B01B9340-7582-422B-9969-390E632F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10820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rPr>
              <a:t>http://10.77.0.10:8501</a:t>
            </a:r>
          </a:p>
        </p:txBody>
      </p:sp>
      <p:sp>
        <p:nvSpPr>
          <p:cNvPr id="10" name="Esperado: 8501 e 4840 abertas. Nova conexão direta em 22 blo">
            <a:extLst xmlns:a="http://schemas.openxmlformats.org/drawingml/2006/main">
              <a:ext uri="{FF2B5EF4-FFF2-40B4-BE49-F238E27FC236}">
                <a16:creationId xmlns:a16="http://schemas.microsoft.com/office/drawing/2014/main" id="{9862180F-1809-43B7-AE91-595640F3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Esperado: 8501 e 4840 abertas. Nova conexão direta em 22 bloqueada</a:t>
            </a:r>
          </a:p>
        </p:txBody>
      </p:sp>
    </p:spTree>
    <p:extLst>
      <p:ext uri="{BB962C8B-B14F-4D97-AF65-F5344CB8AC3E}">
        <p14:creationId xmlns:p14="http://schemas.microsoft.com/office/powerpoint/2010/main" val="55466677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27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19AE7-3049-4C15-84D8-EA29D8AF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1C7E8"/>
            </a:solidFill>
            <a:prstDash val="solid"/>
          </a:ln>
        </p:spPr>
      </p:sp>
      <p:sp>
        <p:nvSpPr>
          <p:cNvPr id="2" name="Industrial Intelligence Lab   /   Aula 3">
            <a:extLst xmlns:a="http://schemas.openxmlformats.org/drawingml/2006/main">
              <a:ext uri="{FF2B5EF4-FFF2-40B4-BE49-F238E27FC236}">
                <a16:creationId xmlns:a16="http://schemas.microsoft.com/office/drawing/2014/main" id="{B5A46D68-47DC-4194-94C9-1BE75388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Industrial Intelligence Lab   /   Aula 3</a:t>
            </a:r>
          </a:p>
        </p:txBody>
      </p:sp>
      <p:sp>
        <p:nvSpPr>
          <p:cNvPr id="3" name="19">
            <a:extLst xmlns:a="http://schemas.openxmlformats.org/drawingml/2006/main">
              <a:ext uri="{FF2B5EF4-FFF2-40B4-BE49-F238E27FC236}">
                <a16:creationId xmlns:a16="http://schemas.microsoft.com/office/drawing/2014/main" id="{7F096151-FF29-443D-A31D-D7CC2D4E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7C10E-77A9-4F4E-8798-234165A9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774"/>
            </a:solidFill>
            <a:prstDash val="solid"/>
          </a:ln>
        </p:spPr>
      </p:sp>
      <p:sp>
        <p:nvSpPr>
          <p:cNvPr id="5" name="Falha, logs e recuperação">
            <a:extLst xmlns:a="http://schemas.openxmlformats.org/drawingml/2006/main">
              <a:ext uri="{FF2B5EF4-FFF2-40B4-BE49-F238E27FC236}">
                <a16:creationId xmlns:a16="http://schemas.microsoft.com/office/drawing/2014/main" id="{6A5008CB-4DBA-477F-B514-4EB6402F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Falha, logs e recuperação</a:t>
            </a:r>
          </a:p>
        </p:txBody>
      </p:sp>
      <p:sp>
        <p:nvSpPr>
          <p:cNvPr id="6" name="BASH NO PI 4, MESMA PASTA E FUNÇÃO dc">
            <a:extLst xmlns:a="http://schemas.openxmlformats.org/drawingml/2006/main">
              <a:ext uri="{FF2B5EF4-FFF2-40B4-BE49-F238E27FC236}">
                <a16:creationId xmlns:a16="http://schemas.microsoft.com/office/drawing/2014/main" id="{74FA7404-17DB-48D3-9534-E639ED4B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BASH NO PI 4, MESMA PASTA E FUNÇÃO dc</a:t>
            </a:r>
          </a:p>
        </p:txBody>
      </p:sp>
      <p:sp>
        <p:nvSpPr>
          <p:cNvPr id="7" name="dc restart tep-opc&#10;dc ps&#10;dc logs --tail=50 tep-opc&#10;dc logs -">
            <a:extLst xmlns:a="http://schemas.openxmlformats.org/drawingml/2006/main">
              <a:ext uri="{FF2B5EF4-FFF2-40B4-BE49-F238E27FC236}">
                <a16:creationId xmlns:a16="http://schemas.microsoft.com/office/drawing/2014/main" id="{F38759D5-5D79-4610-A806-34F932D6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1082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rPr>
              <a:t>dc restart tep-opc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rPr>
              <a:t>dc ps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rPr>
              <a:t>dc logs --tail=50 tep-opc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F7FBFF"/>
                </a:solidFill>
                <a:latin typeface="DejaVu Sans Mono"/>
                <a:ea typeface="DejaVu Sans Mono"/>
                <a:cs typeface="DejaVu Sans Mono"/>
              </a:rPr>
              <a:t>dc logs --tail=50 streamlit</a:t>
            </a:r>
          </a:p>
        </p:txBody>
      </p:sp>
      <p:sp>
        <p:nvSpPr>
          <p:cNvPr id="8" name="A interface sinaliza a perda e volta a ler quando o OPC reto">
            <a:extLst xmlns:a="http://schemas.openxmlformats.org/drawingml/2006/main">
              <a:ext uri="{FF2B5EF4-FFF2-40B4-BE49-F238E27FC236}">
                <a16:creationId xmlns:a16="http://schemas.microsoft.com/office/drawing/2014/main" id="{FFFB7259-19D5-4DBE-9D09-EBA7D6F2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A interface sinaliza a perda e volta a ler quando o OPC retorna</a:t>
            </a:r>
          </a:p>
        </p:txBody>
      </p:sp>
    </p:spTree>
    <p:extLst>
      <p:ext uri="{BB962C8B-B14F-4D97-AF65-F5344CB8AC3E}">
        <p14:creationId xmlns:p14="http://schemas.microsoft.com/office/powerpoint/2010/main" val="72870481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27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88937-0DCC-4DD9-A325-06E74983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1C7E8"/>
            </a:solidFill>
            <a:prstDash val="solid"/>
          </a:ln>
        </p:spPr>
      </p:sp>
      <p:sp>
        <p:nvSpPr>
          <p:cNvPr id="2" name="Industrial Intelligence Lab   /   Aula 3">
            <a:extLst xmlns:a="http://schemas.openxmlformats.org/drawingml/2006/main">
              <a:ext uri="{FF2B5EF4-FFF2-40B4-BE49-F238E27FC236}">
                <a16:creationId xmlns:a16="http://schemas.microsoft.com/office/drawing/2014/main" id="{66608F6A-AADE-4FEA-B563-550BBD9C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Industrial Intelligence Lab   /   Aula 3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2C3C5942-FB68-4C7B-8539-556E9C5E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79593-9B4B-42B3-BA5B-FD1E58FA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774"/>
            </a:solidFill>
            <a:prstDash val="solid"/>
          </a:ln>
        </p:spPr>
      </p:sp>
      <p:sp>
        <p:nvSpPr>
          <p:cNvPr id="5" name="Resultado e próximos passos">
            <a:extLst xmlns:a="http://schemas.openxmlformats.org/drawingml/2006/main">
              <a:ext uri="{FF2B5EF4-FFF2-40B4-BE49-F238E27FC236}">
                <a16:creationId xmlns:a16="http://schemas.microsoft.com/office/drawing/2014/main" id="{AE5642B2-08AD-4349-834A-F646FF76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Resultado e próximos passos</a:t>
            </a:r>
          </a:p>
        </p:txBody>
      </p:sp>
      <p:sp>
        <p:nvSpPr>
          <p:cNvPr id="6" name="Aplicação">
            <a:extLst xmlns:a="http://schemas.openxmlformats.org/drawingml/2006/main">
              <a:ext uri="{FF2B5EF4-FFF2-40B4-BE49-F238E27FC236}">
                <a16:creationId xmlns:a16="http://schemas.microsoft.com/office/drawing/2014/main" id="{E9744512-4FE4-4D2C-9B7A-BA37CB51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Aplicação</a:t>
            </a:r>
          </a:p>
        </p:txBody>
      </p:sp>
      <p:sp>
        <p:nvSpPr>
          <p:cNvPr id="7" name="TEP e OPC UA gerenciados pelo Compose">
            <a:extLst xmlns:a="http://schemas.openxmlformats.org/drawingml/2006/main">
              <a:ext uri="{FF2B5EF4-FFF2-40B4-BE49-F238E27FC236}">
                <a16:creationId xmlns:a16="http://schemas.microsoft.com/office/drawing/2014/main" id="{0683FE92-81DC-4626-A2C2-432EDFBA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38350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TEP e OPC UA gerenciados pelo Compose</a:t>
            </a:r>
          </a:p>
        </p:txBody>
      </p:sp>
      <p:sp>
        <p:nvSpPr>
          <p:cNvPr id="8" name="Visualização">
            <a:extLst xmlns:a="http://schemas.openxmlformats.org/drawingml/2006/main">
              <a:ext uri="{FF2B5EF4-FFF2-40B4-BE49-F238E27FC236}">
                <a16:creationId xmlns:a16="http://schemas.microsoft.com/office/drawing/2014/main" id="{36124003-E1A1-4946-9FAA-3A66B4D3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Visualização</a:t>
            </a:r>
          </a:p>
        </p:txBody>
      </p:sp>
      <p:sp>
        <p:nvSpPr>
          <p:cNvPr id="9" name="Streamlit lê as mesmas tags pelo OPC UA">
            <a:extLst xmlns:a="http://schemas.openxmlformats.org/drawingml/2006/main">
              <a:ext uri="{FF2B5EF4-FFF2-40B4-BE49-F238E27FC236}">
                <a16:creationId xmlns:a16="http://schemas.microsoft.com/office/drawing/2014/main" id="{0E873887-4D66-4FBF-BCAD-79D4EBD5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52775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Streamlit lê as mesmas tags pelo OPC UA</a:t>
            </a:r>
          </a:p>
        </p:txBody>
      </p:sp>
      <p:sp>
        <p:nvSpPr>
          <p:cNvPr id="10" name="Controle">
            <a:extLst xmlns:a="http://schemas.openxmlformats.org/drawingml/2006/main">
              <a:ext uri="{FF2B5EF4-FFF2-40B4-BE49-F238E27FC236}">
                <a16:creationId xmlns:a16="http://schemas.microsoft.com/office/drawing/2014/main" id="{1E8DDDD4-623F-4CE2-B66D-7B89981B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1C7E8"/>
                </a:solidFill>
                <a:latin typeface="Liberation Sans"/>
                <a:ea typeface="Liberation Sans"/>
                <a:cs typeface="Liberation Sans"/>
              </a:rPr>
              <a:t>Controle</a:t>
            </a:r>
          </a:p>
        </p:txBody>
      </p:sp>
      <p:sp>
        <p:nvSpPr>
          <p:cNvPr id="11" name="TCP 8501 autorizada, SSH direto bloqueado">
            <a:extLst xmlns:a="http://schemas.openxmlformats.org/drawingml/2006/main">
              <a:ext uri="{FF2B5EF4-FFF2-40B4-BE49-F238E27FC236}">
                <a16:creationId xmlns:a16="http://schemas.microsoft.com/office/drawing/2014/main" id="{AD048027-6CB7-49B3-9E15-6A18D258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67200"/>
            <a:ext cx="7886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7FBFF"/>
                </a:solidFill>
                <a:latin typeface="Liberation Sans"/>
                <a:ea typeface="Liberation Sans"/>
                <a:cs typeface="Liberation Sans"/>
              </a:rPr>
              <a:t>TCP 8501 autorizada, SSH direto bloqueado</a:t>
            </a:r>
          </a:p>
        </p:txBody>
      </p:sp>
      <p:sp>
        <p:nvSpPr>
          <p:cNvPr id="12" name="Próxima etapa: coleta persistente e histórico do processo">
            <a:extLst xmlns:a="http://schemas.openxmlformats.org/drawingml/2006/main">
              <a:ext uri="{FF2B5EF4-FFF2-40B4-BE49-F238E27FC236}">
                <a16:creationId xmlns:a16="http://schemas.microsoft.com/office/drawing/2014/main" id="{B8FAAA60-083E-485A-B116-3104E723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defPPr>
            <a:lvl1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1pPr>
            <a:lvl2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2pPr>
            <a:lvl3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3pPr>
            <a:lvl4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4pPr>
            <a:lvl5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5pPr>
            <a:lvl6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6pPr>
            <a:lvl7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7pPr>
            <a:lvl8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8pPr>
            <a:lvl9pPr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B8CCDF"/>
                </a:solidFill>
                <a:latin typeface="Liberation Sans"/>
                <a:ea typeface="Liberation Sans"/>
                <a:cs typeface="Liberation Sans"/>
              </a:rPr>
              <a:t>Próxima etapa: coleta persistente e histórico do processo</a:t>
            </a:r>
          </a:p>
        </p:txBody>
      </p:sp>
    </p:spTree>
    <p:extLst>
      <p:ext uri="{BB962C8B-B14F-4D97-AF65-F5344CB8AC3E}">
        <p14:creationId xmlns:p14="http://schemas.microsoft.com/office/powerpoint/2010/main" val="19992163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2026-10-28T19:19:55.6790000Z</dcterms:created>
  <dcterms:modified xsi:type="dcterms:W3CDTF">2026-10-28T19:19:55.6790000Z</dcterms:modified>
</coreProperties>
</file>